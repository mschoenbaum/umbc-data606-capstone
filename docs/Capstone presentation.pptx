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2" d="100"/>
          <a:sy n="82" d="100"/>
        </p:scale>
        <p:origin x="720"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3C2355-8FD9-3791-7BB6-06BAED7F148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C7F0BCC-7C87-C093-6743-EAFDD254522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25CA406-91D1-74E8-9C8E-DB102F184A97}"/>
              </a:ext>
            </a:extLst>
          </p:cNvPr>
          <p:cNvSpPr>
            <a:spLocks noGrp="1"/>
          </p:cNvSpPr>
          <p:nvPr>
            <p:ph type="dt" sz="half" idx="10"/>
          </p:nvPr>
        </p:nvSpPr>
        <p:spPr/>
        <p:txBody>
          <a:bodyPr/>
          <a:lstStyle/>
          <a:p>
            <a:fld id="{145B12D1-78F2-43D1-8F88-E01AD23EA4DE}" type="datetimeFigureOut">
              <a:rPr lang="en-US" smtClean="0"/>
              <a:t>7/26/2026</a:t>
            </a:fld>
            <a:endParaRPr lang="en-US" dirty="0"/>
          </a:p>
        </p:txBody>
      </p:sp>
      <p:sp>
        <p:nvSpPr>
          <p:cNvPr id="5" name="Footer Placeholder 4">
            <a:extLst>
              <a:ext uri="{FF2B5EF4-FFF2-40B4-BE49-F238E27FC236}">
                <a16:creationId xmlns:a16="http://schemas.microsoft.com/office/drawing/2014/main" id="{0CD97D7A-E294-D717-376D-868D59F0710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DF1AF50-1F45-044E-FD47-3823401A30A0}"/>
              </a:ext>
            </a:extLst>
          </p:cNvPr>
          <p:cNvSpPr>
            <a:spLocks noGrp="1"/>
          </p:cNvSpPr>
          <p:nvPr>
            <p:ph type="sldNum" sz="quarter" idx="12"/>
          </p:nvPr>
        </p:nvSpPr>
        <p:spPr/>
        <p:txBody>
          <a:bodyPr/>
          <a:lstStyle/>
          <a:p>
            <a:fld id="{CCAE9F9A-6A86-465F-8AC4-989C53673F9E}" type="slidenum">
              <a:rPr lang="en-US" smtClean="0"/>
              <a:t>‹#›</a:t>
            </a:fld>
            <a:endParaRPr lang="en-US" dirty="0"/>
          </a:p>
        </p:txBody>
      </p:sp>
    </p:spTree>
    <p:extLst>
      <p:ext uri="{BB962C8B-B14F-4D97-AF65-F5344CB8AC3E}">
        <p14:creationId xmlns:p14="http://schemas.microsoft.com/office/powerpoint/2010/main" val="4566358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79710E-4206-7493-CE72-1C19846091A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536FF86-E804-3F88-966C-98A4862A4D3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9BE387C-B3C6-F721-091C-AB2F01A63C71}"/>
              </a:ext>
            </a:extLst>
          </p:cNvPr>
          <p:cNvSpPr>
            <a:spLocks noGrp="1"/>
          </p:cNvSpPr>
          <p:nvPr>
            <p:ph type="dt" sz="half" idx="10"/>
          </p:nvPr>
        </p:nvSpPr>
        <p:spPr/>
        <p:txBody>
          <a:bodyPr/>
          <a:lstStyle/>
          <a:p>
            <a:fld id="{145B12D1-78F2-43D1-8F88-E01AD23EA4DE}" type="datetimeFigureOut">
              <a:rPr lang="en-US" smtClean="0"/>
              <a:t>7/26/2026</a:t>
            </a:fld>
            <a:endParaRPr lang="en-US" dirty="0"/>
          </a:p>
        </p:txBody>
      </p:sp>
      <p:sp>
        <p:nvSpPr>
          <p:cNvPr id="5" name="Footer Placeholder 4">
            <a:extLst>
              <a:ext uri="{FF2B5EF4-FFF2-40B4-BE49-F238E27FC236}">
                <a16:creationId xmlns:a16="http://schemas.microsoft.com/office/drawing/2014/main" id="{C8E1569E-664B-E89B-A7F3-C120392D1D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CAE930C-2FCF-4819-18ED-B33C98A434D9}"/>
              </a:ext>
            </a:extLst>
          </p:cNvPr>
          <p:cNvSpPr>
            <a:spLocks noGrp="1"/>
          </p:cNvSpPr>
          <p:nvPr>
            <p:ph type="sldNum" sz="quarter" idx="12"/>
          </p:nvPr>
        </p:nvSpPr>
        <p:spPr/>
        <p:txBody>
          <a:bodyPr/>
          <a:lstStyle/>
          <a:p>
            <a:fld id="{CCAE9F9A-6A86-465F-8AC4-989C53673F9E}" type="slidenum">
              <a:rPr lang="en-US" smtClean="0"/>
              <a:t>‹#›</a:t>
            </a:fld>
            <a:endParaRPr lang="en-US" dirty="0"/>
          </a:p>
        </p:txBody>
      </p:sp>
    </p:spTree>
    <p:extLst>
      <p:ext uri="{BB962C8B-B14F-4D97-AF65-F5344CB8AC3E}">
        <p14:creationId xmlns:p14="http://schemas.microsoft.com/office/powerpoint/2010/main" val="14474093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F24A88-AF54-E689-678A-62A2D71C3E7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5265B54-E838-AF5E-6ED7-83B6C1749A1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5B04D76-806A-D198-72C1-E2BD0F734D11}"/>
              </a:ext>
            </a:extLst>
          </p:cNvPr>
          <p:cNvSpPr>
            <a:spLocks noGrp="1"/>
          </p:cNvSpPr>
          <p:nvPr>
            <p:ph type="dt" sz="half" idx="10"/>
          </p:nvPr>
        </p:nvSpPr>
        <p:spPr/>
        <p:txBody>
          <a:bodyPr/>
          <a:lstStyle/>
          <a:p>
            <a:fld id="{145B12D1-78F2-43D1-8F88-E01AD23EA4DE}" type="datetimeFigureOut">
              <a:rPr lang="en-US" smtClean="0"/>
              <a:t>7/26/2026</a:t>
            </a:fld>
            <a:endParaRPr lang="en-US" dirty="0"/>
          </a:p>
        </p:txBody>
      </p:sp>
      <p:sp>
        <p:nvSpPr>
          <p:cNvPr id="5" name="Footer Placeholder 4">
            <a:extLst>
              <a:ext uri="{FF2B5EF4-FFF2-40B4-BE49-F238E27FC236}">
                <a16:creationId xmlns:a16="http://schemas.microsoft.com/office/drawing/2014/main" id="{3EA6E959-EC82-260C-96C2-FF772705D50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6953AF47-4275-D845-1D44-27E04C969A9E}"/>
              </a:ext>
            </a:extLst>
          </p:cNvPr>
          <p:cNvSpPr>
            <a:spLocks noGrp="1"/>
          </p:cNvSpPr>
          <p:nvPr>
            <p:ph type="sldNum" sz="quarter" idx="12"/>
          </p:nvPr>
        </p:nvSpPr>
        <p:spPr/>
        <p:txBody>
          <a:bodyPr/>
          <a:lstStyle/>
          <a:p>
            <a:fld id="{CCAE9F9A-6A86-465F-8AC4-989C53673F9E}" type="slidenum">
              <a:rPr lang="en-US" smtClean="0"/>
              <a:t>‹#›</a:t>
            </a:fld>
            <a:endParaRPr lang="en-US" dirty="0"/>
          </a:p>
        </p:txBody>
      </p:sp>
    </p:spTree>
    <p:extLst>
      <p:ext uri="{BB962C8B-B14F-4D97-AF65-F5344CB8AC3E}">
        <p14:creationId xmlns:p14="http://schemas.microsoft.com/office/powerpoint/2010/main" val="30876149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4831C-5486-781F-C447-D3318501ECE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F2552F7-DB18-BC11-0545-A812F52C2B3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D76C8D0-E5FE-1338-F3D8-6B8A376F50A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D5EB8D2-FB00-1698-6F93-B757F26CE9A8}"/>
              </a:ext>
            </a:extLst>
          </p:cNvPr>
          <p:cNvSpPr>
            <a:spLocks noGrp="1"/>
          </p:cNvSpPr>
          <p:nvPr>
            <p:ph type="dt" sz="half" idx="10"/>
          </p:nvPr>
        </p:nvSpPr>
        <p:spPr/>
        <p:txBody>
          <a:bodyPr/>
          <a:lstStyle/>
          <a:p>
            <a:fld id="{145B12D1-78F2-43D1-8F88-E01AD23EA4DE}" type="datetimeFigureOut">
              <a:rPr lang="en-US" smtClean="0"/>
              <a:t>7/26/2026</a:t>
            </a:fld>
            <a:endParaRPr lang="en-US" dirty="0"/>
          </a:p>
        </p:txBody>
      </p:sp>
      <p:sp>
        <p:nvSpPr>
          <p:cNvPr id="6" name="Footer Placeholder 5">
            <a:extLst>
              <a:ext uri="{FF2B5EF4-FFF2-40B4-BE49-F238E27FC236}">
                <a16:creationId xmlns:a16="http://schemas.microsoft.com/office/drawing/2014/main" id="{87C4F7C3-188F-F9A8-6221-7EDF2F8C490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72EFFF8-CD67-7007-C77B-EE748A6D9EAD}"/>
              </a:ext>
            </a:extLst>
          </p:cNvPr>
          <p:cNvSpPr>
            <a:spLocks noGrp="1"/>
          </p:cNvSpPr>
          <p:nvPr>
            <p:ph type="sldNum" sz="quarter" idx="12"/>
          </p:nvPr>
        </p:nvSpPr>
        <p:spPr/>
        <p:txBody>
          <a:bodyPr/>
          <a:lstStyle/>
          <a:p>
            <a:fld id="{CCAE9F9A-6A86-465F-8AC4-989C53673F9E}" type="slidenum">
              <a:rPr lang="en-US" smtClean="0"/>
              <a:t>‹#›</a:t>
            </a:fld>
            <a:endParaRPr lang="en-US" dirty="0"/>
          </a:p>
        </p:txBody>
      </p:sp>
    </p:spTree>
    <p:extLst>
      <p:ext uri="{BB962C8B-B14F-4D97-AF65-F5344CB8AC3E}">
        <p14:creationId xmlns:p14="http://schemas.microsoft.com/office/powerpoint/2010/main" val="1043136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686A61-35C8-7895-A6FA-FBF8AF961F5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50880DA-D030-3403-DF7D-B6F7FB09320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B931988-C574-E7C7-6E47-9E2154C71CC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36A9482-16DD-D7C9-E77A-20547F608A5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32228DB-797E-D41F-3F2B-A70B69A7830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1CA59E0-0288-C5EF-A545-981EBD8F6A5D}"/>
              </a:ext>
            </a:extLst>
          </p:cNvPr>
          <p:cNvSpPr>
            <a:spLocks noGrp="1"/>
          </p:cNvSpPr>
          <p:nvPr>
            <p:ph type="dt" sz="half" idx="10"/>
          </p:nvPr>
        </p:nvSpPr>
        <p:spPr/>
        <p:txBody>
          <a:bodyPr/>
          <a:lstStyle/>
          <a:p>
            <a:fld id="{145B12D1-78F2-43D1-8F88-E01AD23EA4DE}" type="datetimeFigureOut">
              <a:rPr lang="en-US" smtClean="0"/>
              <a:t>7/26/2026</a:t>
            </a:fld>
            <a:endParaRPr lang="en-US" dirty="0"/>
          </a:p>
        </p:txBody>
      </p:sp>
      <p:sp>
        <p:nvSpPr>
          <p:cNvPr id="8" name="Footer Placeholder 7">
            <a:extLst>
              <a:ext uri="{FF2B5EF4-FFF2-40B4-BE49-F238E27FC236}">
                <a16:creationId xmlns:a16="http://schemas.microsoft.com/office/drawing/2014/main" id="{D60F2578-E5E3-EF59-81D8-0526D421CA7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3D76584-E38E-A764-FBFA-BD84E8AF1179}"/>
              </a:ext>
            </a:extLst>
          </p:cNvPr>
          <p:cNvSpPr>
            <a:spLocks noGrp="1"/>
          </p:cNvSpPr>
          <p:nvPr>
            <p:ph type="sldNum" sz="quarter" idx="12"/>
          </p:nvPr>
        </p:nvSpPr>
        <p:spPr/>
        <p:txBody>
          <a:bodyPr/>
          <a:lstStyle/>
          <a:p>
            <a:fld id="{CCAE9F9A-6A86-465F-8AC4-989C53673F9E}" type="slidenum">
              <a:rPr lang="en-US" smtClean="0"/>
              <a:t>‹#›</a:t>
            </a:fld>
            <a:endParaRPr lang="en-US" dirty="0"/>
          </a:p>
        </p:txBody>
      </p:sp>
    </p:spTree>
    <p:extLst>
      <p:ext uri="{BB962C8B-B14F-4D97-AF65-F5344CB8AC3E}">
        <p14:creationId xmlns:p14="http://schemas.microsoft.com/office/powerpoint/2010/main" val="6294536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245C9A-292F-47F3-4741-8A95576AFEB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B70761B-4686-0643-B420-232C8554D24D}"/>
              </a:ext>
            </a:extLst>
          </p:cNvPr>
          <p:cNvSpPr>
            <a:spLocks noGrp="1"/>
          </p:cNvSpPr>
          <p:nvPr>
            <p:ph type="dt" sz="half" idx="10"/>
          </p:nvPr>
        </p:nvSpPr>
        <p:spPr/>
        <p:txBody>
          <a:bodyPr/>
          <a:lstStyle/>
          <a:p>
            <a:fld id="{145B12D1-78F2-43D1-8F88-E01AD23EA4DE}" type="datetimeFigureOut">
              <a:rPr lang="en-US" smtClean="0"/>
              <a:t>7/26/2026</a:t>
            </a:fld>
            <a:endParaRPr lang="en-US" dirty="0"/>
          </a:p>
        </p:txBody>
      </p:sp>
      <p:sp>
        <p:nvSpPr>
          <p:cNvPr id="4" name="Footer Placeholder 3">
            <a:extLst>
              <a:ext uri="{FF2B5EF4-FFF2-40B4-BE49-F238E27FC236}">
                <a16:creationId xmlns:a16="http://schemas.microsoft.com/office/drawing/2014/main" id="{79B4276B-0895-8093-D52B-41830C9B4AE5}"/>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30EAD04D-3D83-1D05-ECEC-CB1FC64EBD6E}"/>
              </a:ext>
            </a:extLst>
          </p:cNvPr>
          <p:cNvSpPr>
            <a:spLocks noGrp="1"/>
          </p:cNvSpPr>
          <p:nvPr>
            <p:ph type="sldNum" sz="quarter" idx="12"/>
          </p:nvPr>
        </p:nvSpPr>
        <p:spPr/>
        <p:txBody>
          <a:bodyPr/>
          <a:lstStyle/>
          <a:p>
            <a:fld id="{CCAE9F9A-6A86-465F-8AC4-989C53673F9E}" type="slidenum">
              <a:rPr lang="en-US" smtClean="0"/>
              <a:t>‹#›</a:t>
            </a:fld>
            <a:endParaRPr lang="en-US" dirty="0"/>
          </a:p>
        </p:txBody>
      </p:sp>
    </p:spTree>
    <p:extLst>
      <p:ext uri="{BB962C8B-B14F-4D97-AF65-F5344CB8AC3E}">
        <p14:creationId xmlns:p14="http://schemas.microsoft.com/office/powerpoint/2010/main" val="28828110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EA3824E-D49F-D07D-E8C2-D787EAC4F17E}"/>
              </a:ext>
            </a:extLst>
          </p:cNvPr>
          <p:cNvSpPr>
            <a:spLocks noGrp="1"/>
          </p:cNvSpPr>
          <p:nvPr>
            <p:ph type="dt" sz="half" idx="10"/>
          </p:nvPr>
        </p:nvSpPr>
        <p:spPr/>
        <p:txBody>
          <a:bodyPr/>
          <a:lstStyle/>
          <a:p>
            <a:fld id="{145B12D1-78F2-43D1-8F88-E01AD23EA4DE}" type="datetimeFigureOut">
              <a:rPr lang="en-US" smtClean="0"/>
              <a:t>7/26/2026</a:t>
            </a:fld>
            <a:endParaRPr lang="en-US" dirty="0"/>
          </a:p>
        </p:txBody>
      </p:sp>
      <p:sp>
        <p:nvSpPr>
          <p:cNvPr id="3" name="Footer Placeholder 2">
            <a:extLst>
              <a:ext uri="{FF2B5EF4-FFF2-40B4-BE49-F238E27FC236}">
                <a16:creationId xmlns:a16="http://schemas.microsoft.com/office/drawing/2014/main" id="{F4914E86-186D-600A-58DD-C18CB95414CD}"/>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F103D728-3100-5DF5-7E13-C1016F1E076F}"/>
              </a:ext>
            </a:extLst>
          </p:cNvPr>
          <p:cNvSpPr>
            <a:spLocks noGrp="1"/>
          </p:cNvSpPr>
          <p:nvPr>
            <p:ph type="sldNum" sz="quarter" idx="12"/>
          </p:nvPr>
        </p:nvSpPr>
        <p:spPr/>
        <p:txBody>
          <a:bodyPr/>
          <a:lstStyle/>
          <a:p>
            <a:fld id="{CCAE9F9A-6A86-465F-8AC4-989C53673F9E}" type="slidenum">
              <a:rPr lang="en-US" smtClean="0"/>
              <a:t>‹#›</a:t>
            </a:fld>
            <a:endParaRPr lang="en-US" dirty="0"/>
          </a:p>
        </p:txBody>
      </p:sp>
    </p:spTree>
    <p:extLst>
      <p:ext uri="{BB962C8B-B14F-4D97-AF65-F5344CB8AC3E}">
        <p14:creationId xmlns:p14="http://schemas.microsoft.com/office/powerpoint/2010/main" val="27617869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DCDF2B-6499-3449-7F1E-BBBA8096885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CA5300E-7267-3B98-E039-02EED06C0E3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3532B88-4293-B9B1-1463-A28C81141CC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5891AE3-5C03-3CC3-5411-85D68D967804}"/>
              </a:ext>
            </a:extLst>
          </p:cNvPr>
          <p:cNvSpPr>
            <a:spLocks noGrp="1"/>
          </p:cNvSpPr>
          <p:nvPr>
            <p:ph type="dt" sz="half" idx="10"/>
          </p:nvPr>
        </p:nvSpPr>
        <p:spPr/>
        <p:txBody>
          <a:bodyPr/>
          <a:lstStyle/>
          <a:p>
            <a:fld id="{145B12D1-78F2-43D1-8F88-E01AD23EA4DE}" type="datetimeFigureOut">
              <a:rPr lang="en-US" smtClean="0"/>
              <a:t>7/26/2026</a:t>
            </a:fld>
            <a:endParaRPr lang="en-US" dirty="0"/>
          </a:p>
        </p:txBody>
      </p:sp>
      <p:sp>
        <p:nvSpPr>
          <p:cNvPr id="6" name="Footer Placeholder 5">
            <a:extLst>
              <a:ext uri="{FF2B5EF4-FFF2-40B4-BE49-F238E27FC236}">
                <a16:creationId xmlns:a16="http://schemas.microsoft.com/office/drawing/2014/main" id="{CBCAE764-D2EE-C834-20FA-2BF446129F68}"/>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A6907E4-CCEE-BA6F-B9A9-36849955B881}"/>
              </a:ext>
            </a:extLst>
          </p:cNvPr>
          <p:cNvSpPr>
            <a:spLocks noGrp="1"/>
          </p:cNvSpPr>
          <p:nvPr>
            <p:ph type="sldNum" sz="quarter" idx="12"/>
          </p:nvPr>
        </p:nvSpPr>
        <p:spPr/>
        <p:txBody>
          <a:bodyPr/>
          <a:lstStyle/>
          <a:p>
            <a:fld id="{CCAE9F9A-6A86-465F-8AC4-989C53673F9E}" type="slidenum">
              <a:rPr lang="en-US" smtClean="0"/>
              <a:t>‹#›</a:t>
            </a:fld>
            <a:endParaRPr lang="en-US" dirty="0"/>
          </a:p>
        </p:txBody>
      </p:sp>
    </p:spTree>
    <p:extLst>
      <p:ext uri="{BB962C8B-B14F-4D97-AF65-F5344CB8AC3E}">
        <p14:creationId xmlns:p14="http://schemas.microsoft.com/office/powerpoint/2010/main" val="12487384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017AB-BDEB-3720-36D1-5261861954F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D1AC7F1-FB87-EA50-F11A-1019B47E89C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F9BCAFE1-8728-EA16-442D-7EE18D28FA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7CDB0D9-6612-05E3-AF01-7EC011C729B5}"/>
              </a:ext>
            </a:extLst>
          </p:cNvPr>
          <p:cNvSpPr>
            <a:spLocks noGrp="1"/>
          </p:cNvSpPr>
          <p:nvPr>
            <p:ph type="dt" sz="half" idx="10"/>
          </p:nvPr>
        </p:nvSpPr>
        <p:spPr/>
        <p:txBody>
          <a:bodyPr/>
          <a:lstStyle/>
          <a:p>
            <a:fld id="{145B12D1-78F2-43D1-8F88-E01AD23EA4DE}" type="datetimeFigureOut">
              <a:rPr lang="en-US" smtClean="0"/>
              <a:t>7/26/2026</a:t>
            </a:fld>
            <a:endParaRPr lang="en-US" dirty="0"/>
          </a:p>
        </p:txBody>
      </p:sp>
      <p:sp>
        <p:nvSpPr>
          <p:cNvPr id="6" name="Footer Placeholder 5">
            <a:extLst>
              <a:ext uri="{FF2B5EF4-FFF2-40B4-BE49-F238E27FC236}">
                <a16:creationId xmlns:a16="http://schemas.microsoft.com/office/drawing/2014/main" id="{5685D113-21D9-EA27-7EFD-853A685D67A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13289FB7-73DC-545D-26EF-1EE15F8E4C95}"/>
              </a:ext>
            </a:extLst>
          </p:cNvPr>
          <p:cNvSpPr>
            <a:spLocks noGrp="1"/>
          </p:cNvSpPr>
          <p:nvPr>
            <p:ph type="sldNum" sz="quarter" idx="12"/>
          </p:nvPr>
        </p:nvSpPr>
        <p:spPr/>
        <p:txBody>
          <a:bodyPr/>
          <a:lstStyle/>
          <a:p>
            <a:fld id="{CCAE9F9A-6A86-465F-8AC4-989C53673F9E}" type="slidenum">
              <a:rPr lang="en-US" smtClean="0"/>
              <a:t>‹#›</a:t>
            </a:fld>
            <a:endParaRPr lang="en-US" dirty="0"/>
          </a:p>
        </p:txBody>
      </p:sp>
    </p:spTree>
    <p:extLst>
      <p:ext uri="{BB962C8B-B14F-4D97-AF65-F5344CB8AC3E}">
        <p14:creationId xmlns:p14="http://schemas.microsoft.com/office/powerpoint/2010/main" val="9594029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E53E6-DEAA-898D-926C-8A01305CF74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8C454FC-0824-AC5F-BD1B-BFF96BC8AE1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1D2805-3482-8B6D-43D8-E3B27752E9BB}"/>
              </a:ext>
            </a:extLst>
          </p:cNvPr>
          <p:cNvSpPr>
            <a:spLocks noGrp="1"/>
          </p:cNvSpPr>
          <p:nvPr>
            <p:ph type="dt" sz="half" idx="10"/>
          </p:nvPr>
        </p:nvSpPr>
        <p:spPr/>
        <p:txBody>
          <a:bodyPr/>
          <a:lstStyle/>
          <a:p>
            <a:fld id="{145B12D1-78F2-43D1-8F88-E01AD23EA4DE}" type="datetimeFigureOut">
              <a:rPr lang="en-US" smtClean="0"/>
              <a:t>7/26/2026</a:t>
            </a:fld>
            <a:endParaRPr lang="en-US" dirty="0"/>
          </a:p>
        </p:txBody>
      </p:sp>
      <p:sp>
        <p:nvSpPr>
          <p:cNvPr id="5" name="Footer Placeholder 4">
            <a:extLst>
              <a:ext uri="{FF2B5EF4-FFF2-40B4-BE49-F238E27FC236}">
                <a16:creationId xmlns:a16="http://schemas.microsoft.com/office/drawing/2014/main" id="{DAB0493D-D333-3372-315B-45790E94257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74525AB-F0E7-3F42-6A56-B2DCE4DD42D9}"/>
              </a:ext>
            </a:extLst>
          </p:cNvPr>
          <p:cNvSpPr>
            <a:spLocks noGrp="1"/>
          </p:cNvSpPr>
          <p:nvPr>
            <p:ph type="sldNum" sz="quarter" idx="12"/>
          </p:nvPr>
        </p:nvSpPr>
        <p:spPr/>
        <p:txBody>
          <a:bodyPr/>
          <a:lstStyle/>
          <a:p>
            <a:fld id="{CCAE9F9A-6A86-465F-8AC4-989C53673F9E}" type="slidenum">
              <a:rPr lang="en-US" smtClean="0"/>
              <a:t>‹#›</a:t>
            </a:fld>
            <a:endParaRPr lang="en-US" dirty="0"/>
          </a:p>
        </p:txBody>
      </p:sp>
    </p:spTree>
    <p:extLst>
      <p:ext uri="{BB962C8B-B14F-4D97-AF65-F5344CB8AC3E}">
        <p14:creationId xmlns:p14="http://schemas.microsoft.com/office/powerpoint/2010/main" val="6206750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9A57F76-A9FF-CD58-3EBE-B013B1E9927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896E6AA-8382-CE72-FE45-4A1C2464760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C4F120-35DE-C288-5A83-12BCEFD39EBA}"/>
              </a:ext>
            </a:extLst>
          </p:cNvPr>
          <p:cNvSpPr>
            <a:spLocks noGrp="1"/>
          </p:cNvSpPr>
          <p:nvPr>
            <p:ph type="dt" sz="half" idx="10"/>
          </p:nvPr>
        </p:nvSpPr>
        <p:spPr/>
        <p:txBody>
          <a:bodyPr/>
          <a:lstStyle/>
          <a:p>
            <a:fld id="{145B12D1-78F2-43D1-8F88-E01AD23EA4DE}" type="datetimeFigureOut">
              <a:rPr lang="en-US" smtClean="0"/>
              <a:t>7/26/2026</a:t>
            </a:fld>
            <a:endParaRPr lang="en-US" dirty="0"/>
          </a:p>
        </p:txBody>
      </p:sp>
      <p:sp>
        <p:nvSpPr>
          <p:cNvPr id="5" name="Footer Placeholder 4">
            <a:extLst>
              <a:ext uri="{FF2B5EF4-FFF2-40B4-BE49-F238E27FC236}">
                <a16:creationId xmlns:a16="http://schemas.microsoft.com/office/drawing/2014/main" id="{D6987F9E-C781-D6C5-8DE2-43B3B520FE0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22A7BBF-62D2-6391-4253-C68865A5D23B}"/>
              </a:ext>
            </a:extLst>
          </p:cNvPr>
          <p:cNvSpPr>
            <a:spLocks noGrp="1"/>
          </p:cNvSpPr>
          <p:nvPr>
            <p:ph type="sldNum" sz="quarter" idx="12"/>
          </p:nvPr>
        </p:nvSpPr>
        <p:spPr/>
        <p:txBody>
          <a:bodyPr/>
          <a:lstStyle/>
          <a:p>
            <a:fld id="{CCAE9F9A-6A86-465F-8AC4-989C53673F9E}" type="slidenum">
              <a:rPr lang="en-US" smtClean="0"/>
              <a:t>‹#›</a:t>
            </a:fld>
            <a:endParaRPr lang="en-US" dirty="0"/>
          </a:p>
        </p:txBody>
      </p:sp>
    </p:spTree>
    <p:extLst>
      <p:ext uri="{BB962C8B-B14F-4D97-AF65-F5344CB8AC3E}">
        <p14:creationId xmlns:p14="http://schemas.microsoft.com/office/powerpoint/2010/main" val="30311554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E6D6FB3-B799-3544-CBA1-304E6E4DB63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981F3C3-8C88-CAE7-B03F-EAC076778F6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7751024-88AE-0CCD-ED70-80C7E58DBF5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45B12D1-78F2-43D1-8F88-E01AD23EA4DE}" type="datetimeFigureOut">
              <a:rPr lang="en-US" smtClean="0"/>
              <a:t>7/26/2026</a:t>
            </a:fld>
            <a:endParaRPr lang="en-US" dirty="0"/>
          </a:p>
        </p:txBody>
      </p:sp>
      <p:sp>
        <p:nvSpPr>
          <p:cNvPr id="5" name="Footer Placeholder 4">
            <a:extLst>
              <a:ext uri="{FF2B5EF4-FFF2-40B4-BE49-F238E27FC236}">
                <a16:creationId xmlns:a16="http://schemas.microsoft.com/office/drawing/2014/main" id="{B4FDF448-EE33-A966-5E62-4ED8EA7E415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675D0206-3A18-8EA7-9C90-F2CBF8DCFC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CAE9F9A-6A86-465F-8AC4-989C53673F9E}" type="slidenum">
              <a:rPr lang="en-US" smtClean="0"/>
              <a:t>‹#›</a:t>
            </a:fld>
            <a:endParaRPr lang="en-US" dirty="0"/>
          </a:p>
        </p:txBody>
      </p:sp>
    </p:spTree>
    <p:extLst>
      <p:ext uri="{BB962C8B-B14F-4D97-AF65-F5344CB8AC3E}">
        <p14:creationId xmlns:p14="http://schemas.microsoft.com/office/powerpoint/2010/main" val="28031686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hyperlink" Target="https://github.com/mauvilsa" TargetMode="External"/><Relationship Id="rId2" Type="http://schemas.openxmlformats.org/officeDocument/2006/relationships/hyperlink" Target="https://github.com/jpuigcerver" TargetMode="External"/><Relationship Id="rId1" Type="http://schemas.openxmlformats.org/officeDocument/2006/relationships/slideLayout" Target="../slideLayouts/slideLayout2.xml"/><Relationship Id="rId4" Type="http://schemas.openxmlformats.org/officeDocument/2006/relationships/hyperlink" Target="https://github.com/dmartinalbo"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4.xml"/><Relationship Id="rId4" Type="http://schemas.openxmlformats.org/officeDocument/2006/relationships/image" Target="../media/image6.jpe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2B199D-9AF0-99A8-832F-35541416DF19}"/>
              </a:ext>
            </a:extLst>
          </p:cNvPr>
          <p:cNvSpPr>
            <a:spLocks noGrp="1"/>
          </p:cNvSpPr>
          <p:nvPr>
            <p:ph type="ctrTitle"/>
          </p:nvPr>
        </p:nvSpPr>
        <p:spPr/>
        <p:txBody>
          <a:bodyPr>
            <a:normAutofit fontScale="90000"/>
          </a:bodyPr>
          <a:lstStyle/>
          <a:p>
            <a:r>
              <a:rPr lang="en-US" b="1" dirty="0"/>
              <a:t>METHODS FOR TRANSCRIBING HANDWRITING IN IMAGES FOR HISTORICAL RESEARCH</a:t>
            </a:r>
          </a:p>
        </p:txBody>
      </p:sp>
      <p:sp>
        <p:nvSpPr>
          <p:cNvPr id="3" name="Subtitle 2">
            <a:extLst>
              <a:ext uri="{FF2B5EF4-FFF2-40B4-BE49-F238E27FC236}">
                <a16:creationId xmlns:a16="http://schemas.microsoft.com/office/drawing/2014/main" id="{D1B36B6D-F024-4AC7-DAB8-C6CF872E7CD6}"/>
              </a:ext>
            </a:extLst>
          </p:cNvPr>
          <p:cNvSpPr>
            <a:spLocks noGrp="1"/>
          </p:cNvSpPr>
          <p:nvPr>
            <p:ph type="subTitle" idx="1"/>
          </p:nvPr>
        </p:nvSpPr>
        <p:spPr/>
        <p:txBody>
          <a:bodyPr>
            <a:normAutofit/>
          </a:bodyPr>
          <a:lstStyle/>
          <a:p>
            <a:endParaRPr lang="en-US" dirty="0"/>
          </a:p>
          <a:p>
            <a:r>
              <a:rPr lang="en-US" sz="2000" dirty="0"/>
              <a:t>Prepared for UMBC Data Science Master Degree Capstone by Dr Chaojie (Jay) Wang</a:t>
            </a:r>
          </a:p>
          <a:p>
            <a:r>
              <a:rPr lang="en-US" sz="2000" dirty="0"/>
              <a:t>Miriam Schoenbaum</a:t>
            </a:r>
          </a:p>
          <a:p>
            <a:r>
              <a:rPr lang="en-US" sz="2000" dirty="0"/>
              <a:t>7/28/2026</a:t>
            </a:r>
          </a:p>
        </p:txBody>
      </p:sp>
    </p:spTree>
    <p:extLst>
      <p:ext uri="{BB962C8B-B14F-4D97-AF65-F5344CB8AC3E}">
        <p14:creationId xmlns:p14="http://schemas.microsoft.com/office/powerpoint/2010/main" val="11380602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CBF30C-CF54-EFB5-F2E5-9116278D9257}"/>
              </a:ext>
            </a:extLst>
          </p:cNvPr>
          <p:cNvSpPr>
            <a:spLocks noGrp="1"/>
          </p:cNvSpPr>
          <p:nvPr>
            <p:ph type="title"/>
          </p:nvPr>
        </p:nvSpPr>
        <p:spPr/>
        <p:txBody>
          <a:bodyPr/>
          <a:lstStyle/>
          <a:p>
            <a:r>
              <a:rPr lang="en-US" b="1" dirty="0"/>
              <a:t>Origin of project</a:t>
            </a:r>
          </a:p>
        </p:txBody>
      </p:sp>
      <p:sp>
        <p:nvSpPr>
          <p:cNvPr id="3" name="Content Placeholder 2">
            <a:extLst>
              <a:ext uri="{FF2B5EF4-FFF2-40B4-BE49-F238E27FC236}">
                <a16:creationId xmlns:a16="http://schemas.microsoft.com/office/drawing/2014/main" id="{17307E96-03C0-A037-4855-EE726AE31370}"/>
              </a:ext>
            </a:extLst>
          </p:cNvPr>
          <p:cNvSpPr>
            <a:spLocks noGrp="1"/>
          </p:cNvSpPr>
          <p:nvPr>
            <p:ph idx="1"/>
          </p:nvPr>
        </p:nvSpPr>
        <p:spPr/>
        <p:txBody>
          <a:bodyPr/>
          <a:lstStyle/>
          <a:p>
            <a:r>
              <a:rPr lang="en-US" dirty="0"/>
              <a:t>The Boyds Historical Society owns and has photographed a 464-page handwritten store ledger for the general store in Boyds, Maryland, in 1904-1906.</a:t>
            </a:r>
          </a:p>
          <a:p>
            <a:r>
              <a:rPr lang="en-US" dirty="0"/>
              <a:t>This handwritten historical document will be more accessible for research and general use if it is transcribed.</a:t>
            </a:r>
          </a:p>
          <a:p>
            <a:r>
              <a:rPr lang="en-US" dirty="0"/>
              <a:t>Heritage Montgomery awarded $2,500 to the Boyds Historical Society for automated transcription of the document using the text recognition and image analysis platform Transkribus.</a:t>
            </a:r>
          </a:p>
        </p:txBody>
      </p:sp>
    </p:spTree>
    <p:extLst>
      <p:ext uri="{BB962C8B-B14F-4D97-AF65-F5344CB8AC3E}">
        <p14:creationId xmlns:p14="http://schemas.microsoft.com/office/powerpoint/2010/main" val="37494870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52DF9-34D3-22FB-D09B-98AD811635D2}"/>
              </a:ext>
            </a:extLst>
          </p:cNvPr>
          <p:cNvSpPr>
            <a:spLocks noGrp="1"/>
          </p:cNvSpPr>
          <p:nvPr>
            <p:ph type="title"/>
          </p:nvPr>
        </p:nvSpPr>
        <p:spPr/>
        <p:txBody>
          <a:bodyPr/>
          <a:lstStyle/>
          <a:p>
            <a:pPr algn="ctr"/>
            <a:r>
              <a:rPr lang="en-US" b="1" dirty="0"/>
              <a:t>Sample pages in the Boyds store ledger</a:t>
            </a:r>
          </a:p>
        </p:txBody>
      </p:sp>
      <p:pic>
        <p:nvPicPr>
          <p:cNvPr id="17" name="Content Placeholder 16">
            <a:extLst>
              <a:ext uri="{FF2B5EF4-FFF2-40B4-BE49-F238E27FC236}">
                <a16:creationId xmlns:a16="http://schemas.microsoft.com/office/drawing/2014/main" id="{0D2FCC05-9EA0-3080-8075-A0CBEB63A786}"/>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1662353" y="1825625"/>
            <a:ext cx="3533294" cy="4351338"/>
          </a:xfrm>
        </p:spPr>
      </p:pic>
      <p:pic>
        <p:nvPicPr>
          <p:cNvPr id="19" name="Content Placeholder 18">
            <a:extLst>
              <a:ext uri="{FF2B5EF4-FFF2-40B4-BE49-F238E27FC236}">
                <a16:creationId xmlns:a16="http://schemas.microsoft.com/office/drawing/2014/main" id="{DF6DF372-8E57-E605-114D-0C06F7EE1458}"/>
              </a:ext>
            </a:extLst>
          </p:cNvPr>
          <p:cNvPicPr>
            <a:picLocks noGrp="1"/>
          </p:cNvPicPr>
          <p:nvPr>
            <p:ph sz="half" idx="2"/>
          </p:nvPr>
        </p:nvPicPr>
        <p:blipFill>
          <a:blip r:embed="rId3">
            <a:extLst>
              <a:ext uri="{28A0092B-C50C-407E-A947-70E740481C1C}">
                <a14:useLocalDpi xmlns:a14="http://schemas.microsoft.com/office/drawing/2010/main" val="0"/>
              </a:ext>
            </a:extLst>
          </a:blip>
          <a:stretch>
            <a:fillRect/>
          </a:stretch>
        </p:blipFill>
        <p:spPr>
          <a:xfrm>
            <a:off x="6587331" y="1825625"/>
            <a:ext cx="3529584" cy="4352544"/>
          </a:xfrm>
        </p:spPr>
      </p:pic>
      <p:sp>
        <p:nvSpPr>
          <p:cNvPr id="20" name="TextBox 19">
            <a:extLst>
              <a:ext uri="{FF2B5EF4-FFF2-40B4-BE49-F238E27FC236}">
                <a16:creationId xmlns:a16="http://schemas.microsoft.com/office/drawing/2014/main" id="{B7D75316-5496-4F72-0B67-EE847F4231F0}"/>
              </a:ext>
            </a:extLst>
          </p:cNvPr>
          <p:cNvSpPr txBox="1"/>
          <p:nvPr/>
        </p:nvSpPr>
        <p:spPr>
          <a:xfrm>
            <a:off x="1662353" y="1461056"/>
            <a:ext cx="2410570" cy="369332"/>
          </a:xfrm>
          <a:prstGeom prst="rect">
            <a:avLst/>
          </a:prstGeom>
          <a:noFill/>
        </p:spPr>
        <p:txBody>
          <a:bodyPr wrap="square" rtlCol="0">
            <a:spAutoFit/>
          </a:bodyPr>
          <a:lstStyle/>
          <a:p>
            <a:r>
              <a:rPr lang="en-US" dirty="0"/>
              <a:t>The jagged handwriting</a:t>
            </a:r>
          </a:p>
        </p:txBody>
      </p:sp>
      <p:sp>
        <p:nvSpPr>
          <p:cNvPr id="21" name="TextBox 20">
            <a:extLst>
              <a:ext uri="{FF2B5EF4-FFF2-40B4-BE49-F238E27FC236}">
                <a16:creationId xmlns:a16="http://schemas.microsoft.com/office/drawing/2014/main" id="{EA722444-541C-D39F-9FFA-9B741466A224}"/>
              </a:ext>
            </a:extLst>
          </p:cNvPr>
          <p:cNvSpPr txBox="1"/>
          <p:nvPr/>
        </p:nvSpPr>
        <p:spPr>
          <a:xfrm>
            <a:off x="6587331" y="1480106"/>
            <a:ext cx="3919489" cy="369332"/>
          </a:xfrm>
          <a:prstGeom prst="rect">
            <a:avLst/>
          </a:prstGeom>
          <a:noFill/>
        </p:spPr>
        <p:txBody>
          <a:bodyPr wrap="square" rtlCol="0">
            <a:spAutoFit/>
          </a:bodyPr>
          <a:lstStyle/>
          <a:p>
            <a:r>
              <a:rPr lang="en-US" dirty="0"/>
              <a:t>The loopy handwriting</a:t>
            </a:r>
          </a:p>
        </p:txBody>
      </p:sp>
    </p:spTree>
    <p:extLst>
      <p:ext uri="{BB962C8B-B14F-4D97-AF65-F5344CB8AC3E}">
        <p14:creationId xmlns:p14="http://schemas.microsoft.com/office/powerpoint/2010/main" val="9705218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CCF36-B164-C527-489D-046123FDEAD4}"/>
              </a:ext>
            </a:extLst>
          </p:cNvPr>
          <p:cNvSpPr>
            <a:spLocks noGrp="1"/>
          </p:cNvSpPr>
          <p:nvPr>
            <p:ph type="title"/>
          </p:nvPr>
        </p:nvSpPr>
        <p:spPr/>
        <p:txBody>
          <a:bodyPr/>
          <a:lstStyle/>
          <a:p>
            <a:r>
              <a:rPr lang="en-US" b="1" dirty="0"/>
              <a:t>Research question: what is the most feasible option for transcribing the Boyds store ledger?</a:t>
            </a:r>
          </a:p>
        </p:txBody>
      </p:sp>
      <p:sp>
        <p:nvSpPr>
          <p:cNvPr id="3" name="Content Placeholder 2">
            <a:extLst>
              <a:ext uri="{FF2B5EF4-FFF2-40B4-BE49-F238E27FC236}">
                <a16:creationId xmlns:a16="http://schemas.microsoft.com/office/drawing/2014/main" id="{21EDA607-0C88-6782-59B2-81B90BFD3F55}"/>
              </a:ext>
            </a:extLst>
          </p:cNvPr>
          <p:cNvSpPr>
            <a:spLocks noGrp="1"/>
          </p:cNvSpPr>
          <p:nvPr>
            <p:ph idx="1"/>
          </p:nvPr>
        </p:nvSpPr>
        <p:spPr/>
        <p:txBody>
          <a:bodyPr/>
          <a:lstStyle/>
          <a:p>
            <a:r>
              <a:rPr lang="en-US" dirty="0"/>
              <a:t>Manual transcription</a:t>
            </a:r>
          </a:p>
          <a:p>
            <a:r>
              <a:rPr lang="en-US" dirty="0"/>
              <a:t>The PyLaia Python library</a:t>
            </a:r>
          </a:p>
          <a:p>
            <a:r>
              <a:rPr lang="en-US" dirty="0"/>
              <a:t>The Transkribus platform, which runs on the PyLaia Python library</a:t>
            </a:r>
          </a:p>
          <a:p>
            <a:r>
              <a:rPr lang="en-US" dirty="0"/>
              <a:t>Google Gemini</a:t>
            </a:r>
          </a:p>
        </p:txBody>
      </p:sp>
    </p:spTree>
    <p:extLst>
      <p:ext uri="{BB962C8B-B14F-4D97-AF65-F5344CB8AC3E}">
        <p14:creationId xmlns:p14="http://schemas.microsoft.com/office/powerpoint/2010/main" val="8038038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DABD5D-CE8A-778A-7AE2-958DA8700838}"/>
              </a:ext>
            </a:extLst>
          </p:cNvPr>
          <p:cNvSpPr>
            <a:spLocks noGrp="1"/>
          </p:cNvSpPr>
          <p:nvPr>
            <p:ph type="title"/>
          </p:nvPr>
        </p:nvSpPr>
        <p:spPr/>
        <p:txBody>
          <a:bodyPr/>
          <a:lstStyle/>
          <a:p>
            <a:r>
              <a:rPr lang="en-US" b="1" dirty="0"/>
              <a:t>Manual transcription</a:t>
            </a:r>
          </a:p>
        </p:txBody>
      </p:sp>
      <p:sp>
        <p:nvSpPr>
          <p:cNvPr id="4" name="Content Placeholder 3">
            <a:extLst>
              <a:ext uri="{FF2B5EF4-FFF2-40B4-BE49-F238E27FC236}">
                <a16:creationId xmlns:a16="http://schemas.microsoft.com/office/drawing/2014/main" id="{F0285BC8-EC1A-88BC-BB4D-EA00BB3DDA92}"/>
              </a:ext>
            </a:extLst>
          </p:cNvPr>
          <p:cNvSpPr>
            <a:spLocks noGrp="1"/>
          </p:cNvSpPr>
          <p:nvPr>
            <p:ph sz="half" idx="1"/>
          </p:nvPr>
        </p:nvSpPr>
        <p:spPr>
          <a:xfrm>
            <a:off x="571500" y="1825625"/>
            <a:ext cx="5238747" cy="4351338"/>
          </a:xfrm>
        </p:spPr>
        <p:txBody>
          <a:bodyPr>
            <a:normAutofit/>
          </a:bodyPr>
          <a:lstStyle/>
          <a:p>
            <a:r>
              <a:rPr lang="en-US" dirty="0"/>
              <a:t>Images uploaded into From The Page platform using the Sandy Spring Museum’s subscription.</a:t>
            </a:r>
          </a:p>
          <a:p>
            <a:r>
              <a:rPr lang="en-US" dirty="0"/>
              <a:t>Table format created.</a:t>
            </a:r>
          </a:p>
          <a:p>
            <a:r>
              <a:rPr lang="en-US" dirty="0"/>
              <a:t>Anyone with a From The Page account can transcribe (crowd-sourcing). </a:t>
            </a:r>
          </a:p>
          <a:p>
            <a:r>
              <a:rPr lang="en-US" dirty="0"/>
              <a:t>From The Page also has AI transcription (Gemini) as an additional option for subscribers.</a:t>
            </a:r>
          </a:p>
        </p:txBody>
      </p:sp>
      <p:pic>
        <p:nvPicPr>
          <p:cNvPr id="7" name="Content Placeholder 6">
            <a:extLst>
              <a:ext uri="{FF2B5EF4-FFF2-40B4-BE49-F238E27FC236}">
                <a16:creationId xmlns:a16="http://schemas.microsoft.com/office/drawing/2014/main" id="{2A48FEBE-4806-382F-1850-F1943EA6ECA2}"/>
              </a:ext>
            </a:extLst>
          </p:cNvPr>
          <p:cNvPicPr>
            <a:picLocks noGrp="1" noChangeAspect="1"/>
          </p:cNvPicPr>
          <p:nvPr>
            <p:ph sz="half" idx="2"/>
          </p:nvPr>
        </p:nvPicPr>
        <p:blipFill>
          <a:blip r:embed="rId2"/>
          <a:stretch>
            <a:fillRect/>
          </a:stretch>
        </p:blipFill>
        <p:spPr>
          <a:xfrm>
            <a:off x="5619746" y="1825625"/>
            <a:ext cx="6270022" cy="4297680"/>
          </a:xfrm>
          <a:prstGeom prst="rect">
            <a:avLst/>
          </a:prstGeom>
        </p:spPr>
      </p:pic>
    </p:spTree>
    <p:extLst>
      <p:ext uri="{BB962C8B-B14F-4D97-AF65-F5344CB8AC3E}">
        <p14:creationId xmlns:p14="http://schemas.microsoft.com/office/powerpoint/2010/main" val="31811300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8EB3CD-9EDD-C20B-A6A3-420D6843E3DA}"/>
              </a:ext>
            </a:extLst>
          </p:cNvPr>
          <p:cNvSpPr>
            <a:spLocks noGrp="1"/>
          </p:cNvSpPr>
          <p:nvPr>
            <p:ph type="title"/>
          </p:nvPr>
        </p:nvSpPr>
        <p:spPr/>
        <p:txBody>
          <a:bodyPr/>
          <a:lstStyle/>
          <a:p>
            <a:r>
              <a:rPr lang="en-US" b="1" dirty="0"/>
              <a:t>PyLaia Python library</a:t>
            </a:r>
          </a:p>
        </p:txBody>
      </p:sp>
      <p:sp>
        <p:nvSpPr>
          <p:cNvPr id="5" name="Content Placeholder 4">
            <a:extLst>
              <a:ext uri="{FF2B5EF4-FFF2-40B4-BE49-F238E27FC236}">
                <a16:creationId xmlns:a16="http://schemas.microsoft.com/office/drawing/2014/main" id="{D34AE389-BA46-6892-5804-D9BF05E4F0DD}"/>
              </a:ext>
            </a:extLst>
          </p:cNvPr>
          <p:cNvSpPr>
            <a:spLocks noGrp="1"/>
          </p:cNvSpPr>
          <p:nvPr>
            <p:ph idx="1"/>
          </p:nvPr>
        </p:nvSpPr>
        <p:spPr/>
        <p:txBody>
          <a:bodyPr/>
          <a:lstStyle/>
          <a:p>
            <a:r>
              <a:rPr lang="en-US" dirty="0"/>
              <a:t>PyLaia is a toolkit for Automatic Text Recognition (ATR) and Keyword Spotting (KWS).</a:t>
            </a:r>
          </a:p>
          <a:p>
            <a:r>
              <a:rPr lang="en-US" dirty="0"/>
              <a:t>Originally developed by 3 members (</a:t>
            </a:r>
            <a:r>
              <a:rPr lang="en-US" dirty="0">
                <a:hlinkClick r:id="rId2"/>
              </a:rPr>
              <a:t>@jpuigcerver</a:t>
            </a:r>
            <a:r>
              <a:rPr lang="en-US" dirty="0"/>
              <a:t>, </a:t>
            </a:r>
            <a:r>
              <a:rPr lang="en-US" dirty="0">
                <a:hlinkClick r:id="rId3"/>
              </a:rPr>
              <a:t>@mauvilsa</a:t>
            </a:r>
            <a:r>
              <a:rPr lang="en-US" dirty="0"/>
              <a:t>, </a:t>
            </a:r>
            <a:r>
              <a:rPr lang="en-US" dirty="0">
                <a:hlinkClick r:id="rId4"/>
              </a:rPr>
              <a:t>@dmartinalbo</a:t>
            </a:r>
            <a:r>
              <a:rPr lang="en-US" dirty="0"/>
              <a:t>) of the Pattern Recognition and Human Language Technology (PRHLT) research center in 2016.</a:t>
            </a:r>
          </a:p>
          <a:p>
            <a:r>
              <a:rPr lang="en-US" dirty="0"/>
              <a:t>Latest release August 12, 2024.</a:t>
            </a:r>
          </a:p>
          <a:p>
            <a:r>
              <a:rPr lang="en-US" dirty="0"/>
              <a:t>Latest Python version 3.10.</a:t>
            </a:r>
          </a:p>
          <a:p>
            <a:r>
              <a:rPr lang="en-US" dirty="0"/>
              <a:t>Trainable models using individual text line images.</a:t>
            </a:r>
          </a:p>
        </p:txBody>
      </p:sp>
    </p:spTree>
    <p:extLst>
      <p:ext uri="{BB962C8B-B14F-4D97-AF65-F5344CB8AC3E}">
        <p14:creationId xmlns:p14="http://schemas.microsoft.com/office/powerpoint/2010/main" val="6434065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13A9A-4AA6-27ED-2DD9-B3499DB86339}"/>
              </a:ext>
            </a:extLst>
          </p:cNvPr>
          <p:cNvSpPr>
            <a:spLocks noGrp="1"/>
          </p:cNvSpPr>
          <p:nvPr>
            <p:ph type="title"/>
          </p:nvPr>
        </p:nvSpPr>
        <p:spPr/>
        <p:txBody>
          <a:bodyPr/>
          <a:lstStyle/>
          <a:p>
            <a:r>
              <a:rPr lang="en-US" b="1" dirty="0"/>
              <a:t>Text line images used to test PyLaia</a:t>
            </a:r>
          </a:p>
        </p:txBody>
      </p:sp>
      <p:pic>
        <p:nvPicPr>
          <p:cNvPr id="9" name="Content Placeholder 8">
            <a:extLst>
              <a:ext uri="{FF2B5EF4-FFF2-40B4-BE49-F238E27FC236}">
                <a16:creationId xmlns:a16="http://schemas.microsoft.com/office/drawing/2014/main" id="{024A6B25-26B9-06B1-98E5-361B20457066}"/>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838201" y="1825625"/>
            <a:ext cx="5181600" cy="1459591"/>
          </a:xfrm>
        </p:spPr>
      </p:pic>
      <p:sp>
        <p:nvSpPr>
          <p:cNvPr id="7" name="Content Placeholder 6">
            <a:extLst>
              <a:ext uri="{FF2B5EF4-FFF2-40B4-BE49-F238E27FC236}">
                <a16:creationId xmlns:a16="http://schemas.microsoft.com/office/drawing/2014/main" id="{59EE58FA-EA0C-6039-F090-41A220570A44}"/>
              </a:ext>
            </a:extLst>
          </p:cNvPr>
          <p:cNvSpPr>
            <a:spLocks noGrp="1"/>
          </p:cNvSpPr>
          <p:nvPr>
            <p:ph sz="half" idx="2"/>
          </p:nvPr>
        </p:nvSpPr>
        <p:spPr>
          <a:xfrm>
            <a:off x="7626484" y="1851633"/>
            <a:ext cx="3727315" cy="4351338"/>
          </a:xfrm>
        </p:spPr>
        <p:txBody>
          <a:bodyPr/>
          <a:lstStyle/>
          <a:p>
            <a:r>
              <a:rPr lang="en-US" dirty="0"/>
              <a:t>TRAIN: The moving finger writes; and, having write, moves on.</a:t>
            </a:r>
          </a:p>
          <a:p>
            <a:r>
              <a:rPr lang="en-US" dirty="0"/>
              <a:t>VALIDATE: Nor all thy piety nor wit shall lure it back to cancel half</a:t>
            </a:r>
          </a:p>
          <a:p>
            <a:r>
              <a:rPr lang="en-US" dirty="0"/>
              <a:t>TEST: a line, nor all thy tears wash out a word of it.</a:t>
            </a:r>
          </a:p>
        </p:txBody>
      </p:sp>
      <p:pic>
        <p:nvPicPr>
          <p:cNvPr id="11" name="Picture 10">
            <a:extLst>
              <a:ext uri="{FF2B5EF4-FFF2-40B4-BE49-F238E27FC236}">
                <a16:creationId xmlns:a16="http://schemas.microsoft.com/office/drawing/2014/main" id="{346354B3-F26C-8AD1-AB13-B04C61F3277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3420153"/>
            <a:ext cx="6672311" cy="1463040"/>
          </a:xfrm>
          <a:prstGeom prst="rect">
            <a:avLst/>
          </a:prstGeom>
        </p:spPr>
      </p:pic>
      <p:pic>
        <p:nvPicPr>
          <p:cNvPr id="13" name="Picture 12">
            <a:extLst>
              <a:ext uri="{FF2B5EF4-FFF2-40B4-BE49-F238E27FC236}">
                <a16:creationId xmlns:a16="http://schemas.microsoft.com/office/drawing/2014/main" id="{3AF06083-13B2-E288-237D-1C48FF591A0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8200" y="5029835"/>
            <a:ext cx="6469860" cy="1463040"/>
          </a:xfrm>
          <a:prstGeom prst="rect">
            <a:avLst/>
          </a:prstGeom>
        </p:spPr>
      </p:pic>
    </p:spTree>
    <p:extLst>
      <p:ext uri="{BB962C8B-B14F-4D97-AF65-F5344CB8AC3E}">
        <p14:creationId xmlns:p14="http://schemas.microsoft.com/office/powerpoint/2010/main" val="34974587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30565-5331-8473-3028-DB9234FE6469}"/>
              </a:ext>
            </a:extLst>
          </p:cNvPr>
          <p:cNvSpPr>
            <a:spLocks noGrp="1"/>
          </p:cNvSpPr>
          <p:nvPr>
            <p:ph type="title"/>
          </p:nvPr>
        </p:nvSpPr>
        <p:spPr/>
        <p:txBody>
          <a:bodyPr/>
          <a:lstStyle/>
          <a:p>
            <a:r>
              <a:rPr lang="en-US" b="1" dirty="0"/>
              <a:t>Results using PyLaia</a:t>
            </a:r>
          </a:p>
        </p:txBody>
      </p:sp>
      <p:sp>
        <p:nvSpPr>
          <p:cNvPr id="3" name="Content Placeholder 2">
            <a:extLst>
              <a:ext uri="{FF2B5EF4-FFF2-40B4-BE49-F238E27FC236}">
                <a16:creationId xmlns:a16="http://schemas.microsoft.com/office/drawing/2014/main" id="{FD4B8B87-57DE-F58A-8867-AAD8875DB571}"/>
              </a:ext>
            </a:extLst>
          </p:cNvPr>
          <p:cNvSpPr>
            <a:spLocks noGrp="1"/>
          </p:cNvSpPr>
          <p:nvPr>
            <p:ph idx="1"/>
          </p:nvPr>
        </p:nvSpPr>
        <p:spPr/>
        <p:txBody>
          <a:bodyPr/>
          <a:lstStyle/>
          <a:p>
            <a:r>
              <a:rPr lang="en-US" dirty="0"/>
              <a:t>Coding in Google Colab in Python 3.10, using PyLaia documentation and Gemini</a:t>
            </a:r>
          </a:p>
          <a:p>
            <a:r>
              <a:rPr lang="en-US" dirty="0"/>
              <a:t>Test text: “a line, nor all thy tears wash out a word of it.” </a:t>
            </a:r>
          </a:p>
          <a:p>
            <a:r>
              <a:rPr lang="en-US" dirty="0"/>
              <a:t>Model trained on train image and validation image: [no result]</a:t>
            </a:r>
          </a:p>
          <a:p>
            <a:endParaRPr lang="en-US" dirty="0"/>
          </a:p>
          <a:p>
            <a:r>
              <a:rPr lang="en-US" dirty="0"/>
              <a:t>Trained model from HuggingFace: “</a:t>
            </a:r>
            <a:r>
              <a:rPr lang="pt-BR" dirty="0"/>
              <a:t>oerr m ar m nor mraa a vosen”</a:t>
            </a:r>
          </a:p>
          <a:p>
            <a:endParaRPr lang="en-US" dirty="0"/>
          </a:p>
        </p:txBody>
      </p:sp>
      <p:pic>
        <p:nvPicPr>
          <p:cNvPr id="5" name="Picture 4">
            <a:extLst>
              <a:ext uri="{FF2B5EF4-FFF2-40B4-BE49-F238E27FC236}">
                <a16:creationId xmlns:a16="http://schemas.microsoft.com/office/drawing/2014/main" id="{CA491121-9DC7-A788-9017-CE0F0596FA6C}"/>
              </a:ext>
            </a:extLst>
          </p:cNvPr>
          <p:cNvPicPr>
            <a:picLocks noChangeAspect="1"/>
          </p:cNvPicPr>
          <p:nvPr/>
        </p:nvPicPr>
        <p:blipFill>
          <a:blip r:embed="rId2"/>
          <a:stretch>
            <a:fillRect/>
          </a:stretch>
        </p:blipFill>
        <p:spPr>
          <a:xfrm>
            <a:off x="838200" y="4662277"/>
            <a:ext cx="10288436" cy="1514686"/>
          </a:xfrm>
          <a:prstGeom prst="rect">
            <a:avLst/>
          </a:prstGeom>
        </p:spPr>
      </p:pic>
      <p:pic>
        <p:nvPicPr>
          <p:cNvPr id="9" name="Picture 8">
            <a:extLst>
              <a:ext uri="{FF2B5EF4-FFF2-40B4-BE49-F238E27FC236}">
                <a16:creationId xmlns:a16="http://schemas.microsoft.com/office/drawing/2014/main" id="{7CDD704A-F6C0-8F94-08D9-63EE7FB27EC3}"/>
              </a:ext>
            </a:extLst>
          </p:cNvPr>
          <p:cNvPicPr>
            <a:picLocks noChangeAspect="1"/>
          </p:cNvPicPr>
          <p:nvPr/>
        </p:nvPicPr>
        <p:blipFill>
          <a:blip r:embed="rId3"/>
          <a:stretch>
            <a:fillRect/>
          </a:stretch>
        </p:blipFill>
        <p:spPr>
          <a:xfrm>
            <a:off x="985858" y="3825057"/>
            <a:ext cx="9993120" cy="352474"/>
          </a:xfrm>
          <a:prstGeom prst="rect">
            <a:avLst/>
          </a:prstGeom>
        </p:spPr>
      </p:pic>
    </p:spTree>
    <p:extLst>
      <p:ext uri="{BB962C8B-B14F-4D97-AF65-F5344CB8AC3E}">
        <p14:creationId xmlns:p14="http://schemas.microsoft.com/office/powerpoint/2010/main" val="18560170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131417-0264-A01E-700D-F0139DA17D1D}"/>
              </a:ext>
            </a:extLst>
          </p:cNvPr>
          <p:cNvSpPr>
            <a:spLocks noGrp="1"/>
          </p:cNvSpPr>
          <p:nvPr>
            <p:ph type="title"/>
          </p:nvPr>
        </p:nvSpPr>
        <p:spPr/>
        <p:txBody>
          <a:bodyPr/>
          <a:lstStyle/>
          <a:p>
            <a:r>
              <a:rPr lang="en-US" b="1" dirty="0"/>
              <a:t>Transkribus</a:t>
            </a:r>
          </a:p>
        </p:txBody>
      </p:sp>
      <p:sp>
        <p:nvSpPr>
          <p:cNvPr id="3" name="Content Placeholder 2">
            <a:extLst>
              <a:ext uri="{FF2B5EF4-FFF2-40B4-BE49-F238E27FC236}">
                <a16:creationId xmlns:a16="http://schemas.microsoft.com/office/drawing/2014/main" id="{B3757BE3-2DD1-E8D1-ACFA-E303C06A58ED}"/>
              </a:ext>
            </a:extLst>
          </p:cNvPr>
          <p:cNvSpPr>
            <a:spLocks noGrp="1"/>
          </p:cNvSpPr>
          <p:nvPr>
            <p:ph idx="1"/>
          </p:nvPr>
        </p:nvSpPr>
        <p:spPr/>
        <p:txBody>
          <a:bodyPr/>
          <a:lstStyle/>
          <a:p>
            <a:r>
              <a:rPr lang="en-US" dirty="0"/>
              <a:t>Text recognition, layout detection, AI training platform based on PyLaia Python library.</a:t>
            </a:r>
          </a:p>
          <a:p>
            <a:r>
              <a:rPr lang="en-US" dirty="0"/>
              <a:t>Built and hosted in Europe by a co-operative.</a:t>
            </a:r>
          </a:p>
          <a:p>
            <a:r>
              <a:rPr lang="en-US" dirty="0"/>
              <a:t>GDPR compliant.</a:t>
            </a:r>
          </a:p>
          <a:p>
            <a:r>
              <a:rPr lang="en-US" dirty="0"/>
              <a:t>All data processed and stored on Transkribus-owned servers in Austria.</a:t>
            </a:r>
          </a:p>
          <a:p>
            <a:r>
              <a:rPr lang="en-US" dirty="0"/>
              <a:t>Data owners’ ownership is maintained.</a:t>
            </a:r>
          </a:p>
          <a:p>
            <a:r>
              <a:rPr lang="en-US" dirty="0"/>
              <a:t>Requires paid subscription.</a:t>
            </a:r>
          </a:p>
          <a:p>
            <a:endParaRPr lang="en-US" dirty="0"/>
          </a:p>
        </p:txBody>
      </p:sp>
    </p:spTree>
    <p:extLst>
      <p:ext uri="{BB962C8B-B14F-4D97-AF65-F5344CB8AC3E}">
        <p14:creationId xmlns:p14="http://schemas.microsoft.com/office/powerpoint/2010/main" val="19687322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25B67A-F4C7-116C-71D6-40F9CC409951}"/>
              </a:ext>
            </a:extLst>
          </p:cNvPr>
          <p:cNvSpPr>
            <a:spLocks noGrp="1"/>
          </p:cNvSpPr>
          <p:nvPr>
            <p:ph type="title"/>
          </p:nvPr>
        </p:nvSpPr>
        <p:spPr/>
        <p:txBody>
          <a:bodyPr/>
          <a:lstStyle/>
          <a:p>
            <a:r>
              <a:rPr lang="en-US" b="1" dirty="0"/>
              <a:t>Example of Transkribus page interface</a:t>
            </a:r>
          </a:p>
        </p:txBody>
      </p:sp>
      <p:pic>
        <p:nvPicPr>
          <p:cNvPr id="5" name="Content Placeholder 4">
            <a:extLst>
              <a:ext uri="{FF2B5EF4-FFF2-40B4-BE49-F238E27FC236}">
                <a16:creationId xmlns:a16="http://schemas.microsoft.com/office/drawing/2014/main" id="{A1AC74DD-E8E4-24EB-9619-0038D4DB8DCD}"/>
              </a:ext>
            </a:extLst>
          </p:cNvPr>
          <p:cNvPicPr>
            <a:picLocks noGrp="1" noChangeAspect="1"/>
          </p:cNvPicPr>
          <p:nvPr>
            <p:ph idx="1"/>
          </p:nvPr>
        </p:nvPicPr>
        <p:blipFill>
          <a:blip r:embed="rId2"/>
          <a:stretch>
            <a:fillRect/>
          </a:stretch>
        </p:blipFill>
        <p:spPr>
          <a:xfrm>
            <a:off x="1300281" y="1825625"/>
            <a:ext cx="9591438" cy="4351338"/>
          </a:xfrm>
          <a:prstGeom prst="rect">
            <a:avLst/>
          </a:prstGeom>
        </p:spPr>
      </p:pic>
    </p:spTree>
    <p:extLst>
      <p:ext uri="{BB962C8B-B14F-4D97-AF65-F5344CB8AC3E}">
        <p14:creationId xmlns:p14="http://schemas.microsoft.com/office/powerpoint/2010/main" val="12703105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3284F-F594-D165-D40B-FC3F9483DAAE}"/>
              </a:ext>
            </a:extLst>
          </p:cNvPr>
          <p:cNvSpPr>
            <a:spLocks noGrp="1"/>
          </p:cNvSpPr>
          <p:nvPr>
            <p:ph type="title"/>
          </p:nvPr>
        </p:nvSpPr>
        <p:spPr/>
        <p:txBody>
          <a:bodyPr/>
          <a:lstStyle/>
          <a:p>
            <a:r>
              <a:rPr lang="en-US" b="1" dirty="0"/>
              <a:t>Transkribus text model training on ledger</a:t>
            </a:r>
          </a:p>
        </p:txBody>
      </p:sp>
      <p:sp>
        <p:nvSpPr>
          <p:cNvPr id="3" name="Content Placeholder 2">
            <a:extLst>
              <a:ext uri="{FF2B5EF4-FFF2-40B4-BE49-F238E27FC236}">
                <a16:creationId xmlns:a16="http://schemas.microsoft.com/office/drawing/2014/main" id="{1CF0D692-2196-482F-26EF-5570E130B3BF}"/>
              </a:ext>
            </a:extLst>
          </p:cNvPr>
          <p:cNvSpPr>
            <a:spLocks noGrp="1"/>
          </p:cNvSpPr>
          <p:nvPr>
            <p:ph idx="1"/>
          </p:nvPr>
        </p:nvSpPr>
        <p:spPr/>
        <p:txBody>
          <a:bodyPr/>
          <a:lstStyle/>
          <a:p>
            <a:r>
              <a:rPr lang="en-US" dirty="0"/>
              <a:t>18 pages manually line-identified and transcribed for the training dataset</a:t>
            </a:r>
          </a:p>
          <a:p>
            <a:r>
              <a:rPr lang="en-US" dirty="0"/>
              <a:t>90/10 train-test split</a:t>
            </a:r>
          </a:p>
          <a:p>
            <a:r>
              <a:rPr lang="en-US" dirty="0"/>
              <a:t>Model run duration: 42 minutes, 46 seconds</a:t>
            </a:r>
          </a:p>
          <a:p>
            <a:r>
              <a:rPr lang="en-US" dirty="0"/>
              <a:t>Number of epochs: 100</a:t>
            </a:r>
          </a:p>
          <a:p>
            <a:r>
              <a:rPr lang="en-US" dirty="0"/>
              <a:t>Best Character Error Rate (CER): 57.05%</a:t>
            </a:r>
          </a:p>
          <a:p>
            <a:r>
              <a:rPr lang="en-US" dirty="0"/>
              <a:t>Best Word Error Rate (WER): 76.89%</a:t>
            </a:r>
          </a:p>
        </p:txBody>
      </p:sp>
    </p:spTree>
    <p:extLst>
      <p:ext uri="{BB962C8B-B14F-4D97-AF65-F5344CB8AC3E}">
        <p14:creationId xmlns:p14="http://schemas.microsoft.com/office/powerpoint/2010/main" val="40646994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10764-3DF2-0996-1B0E-BE72C0A6B852}"/>
              </a:ext>
            </a:extLst>
          </p:cNvPr>
          <p:cNvSpPr>
            <a:spLocks noGrp="1"/>
          </p:cNvSpPr>
          <p:nvPr>
            <p:ph type="title"/>
          </p:nvPr>
        </p:nvSpPr>
        <p:spPr/>
        <p:txBody>
          <a:bodyPr/>
          <a:lstStyle/>
          <a:p>
            <a:r>
              <a:rPr lang="en-US" b="1" dirty="0"/>
              <a:t>Approximate comparison of trained Transkribus model vs. manual transcription</a:t>
            </a:r>
          </a:p>
        </p:txBody>
      </p:sp>
      <p:graphicFrame>
        <p:nvGraphicFramePr>
          <p:cNvPr id="25" name="Content Placeholder 24">
            <a:extLst>
              <a:ext uri="{FF2B5EF4-FFF2-40B4-BE49-F238E27FC236}">
                <a16:creationId xmlns:a16="http://schemas.microsoft.com/office/drawing/2014/main" id="{E4871FAA-7D6C-F894-BC20-DFBC80B9DF46}"/>
              </a:ext>
            </a:extLst>
          </p:cNvPr>
          <p:cNvGraphicFramePr>
            <a:graphicFrameLocks noGrp="1"/>
          </p:cNvGraphicFramePr>
          <p:nvPr>
            <p:ph idx="1"/>
            <p:extLst>
              <p:ext uri="{D42A27DB-BD31-4B8C-83A1-F6EECF244321}">
                <p14:modId xmlns:p14="http://schemas.microsoft.com/office/powerpoint/2010/main" val="1651380237"/>
              </p:ext>
            </p:extLst>
          </p:nvPr>
        </p:nvGraphicFramePr>
        <p:xfrm>
          <a:off x="276225" y="1610519"/>
          <a:ext cx="11658600" cy="5099561"/>
        </p:xfrm>
        <a:graphic>
          <a:graphicData uri="http://schemas.openxmlformats.org/drawingml/2006/table">
            <a:tbl>
              <a:tblPr firstRow="1" firstCol="1" bandRow="1">
                <a:tableStyleId>{5C22544A-7EE6-4342-B048-85BDC9FD1C3A}</a:tableStyleId>
              </a:tblPr>
              <a:tblGrid>
                <a:gridCol w="5829300">
                  <a:extLst>
                    <a:ext uri="{9D8B030D-6E8A-4147-A177-3AD203B41FA5}">
                      <a16:colId xmlns:a16="http://schemas.microsoft.com/office/drawing/2014/main" val="2220717654"/>
                    </a:ext>
                  </a:extLst>
                </a:gridCol>
                <a:gridCol w="5829300">
                  <a:extLst>
                    <a:ext uri="{9D8B030D-6E8A-4147-A177-3AD203B41FA5}">
                      <a16:colId xmlns:a16="http://schemas.microsoft.com/office/drawing/2014/main" val="1615186095"/>
                    </a:ext>
                  </a:extLst>
                </a:gridCol>
              </a:tblGrid>
              <a:tr h="0">
                <a:tc>
                  <a:txBody>
                    <a:bodyPr/>
                    <a:lstStyle/>
                    <a:p>
                      <a:pPr marL="0" marR="0">
                        <a:lnSpc>
                          <a:spcPct val="107000"/>
                        </a:lnSpc>
                        <a:spcAft>
                          <a:spcPts val="800"/>
                        </a:spcAft>
                        <a:buNone/>
                      </a:pPr>
                      <a:r>
                        <a:rPr lang="en-US" sz="2400" kern="100" dirty="0">
                          <a:effectLst/>
                        </a:rPr>
                        <a:t>Transkribus</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Aft>
                          <a:spcPts val="800"/>
                        </a:spcAft>
                        <a:buNone/>
                      </a:pPr>
                      <a:r>
                        <a:rPr lang="en-US" sz="2400" kern="100" dirty="0">
                          <a:effectLst/>
                        </a:rPr>
                        <a:t>Manual transcription</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644764765"/>
                  </a:ext>
                </a:extLst>
              </a:tr>
              <a:tr h="0">
                <a:tc>
                  <a:txBody>
                    <a:bodyPr/>
                    <a:lstStyle/>
                    <a:p>
                      <a:pPr marL="0" marR="0">
                        <a:lnSpc>
                          <a:spcPct val="107000"/>
                        </a:lnSpc>
                        <a:spcAft>
                          <a:spcPts val="800"/>
                        </a:spcAft>
                        <a:buNone/>
                      </a:pPr>
                      <a:r>
                        <a:rPr lang="en-US" sz="2400" kern="100" dirty="0">
                          <a:effectLst/>
                        </a:rPr>
                        <a:t>1</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marL="0" marR="0">
                        <a:lnSpc>
                          <a:spcPct val="107000"/>
                        </a:lnSpc>
                        <a:spcAft>
                          <a:spcPts val="800"/>
                        </a:spcAft>
                        <a:buNone/>
                      </a:pPr>
                      <a:r>
                        <a:rPr lang="en-US" sz="2400" kern="100" dirty="0">
                          <a:effectLst/>
                        </a:rPr>
                        <a:t>" 1 yd ribbon 15 1 Qt hominy 10 1 bot Ammonia 10 1 sk Tob 5 </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446733247"/>
                  </a:ext>
                </a:extLst>
              </a:tr>
              <a:tr h="0">
                <a:tc>
                  <a:txBody>
                    <a:bodyPr/>
                    <a:lstStyle/>
                    <a:p>
                      <a:pPr marL="0" marR="0">
                        <a:lnSpc>
                          <a:spcPct val="107000"/>
                        </a:lnSpc>
                        <a:spcAft>
                          <a:spcPts val="800"/>
                        </a:spcAft>
                        <a:buNone/>
                      </a:pPr>
                      <a:r>
                        <a:rPr lang="en-US" sz="2400" kern="100" dirty="0">
                          <a:effectLst/>
                        </a:rPr>
                        <a:t>10 A 1</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marL="0" marR="0">
                        <a:lnSpc>
                          <a:spcPct val="107000"/>
                        </a:lnSpc>
                        <a:spcAft>
                          <a:spcPts val="800"/>
                        </a:spcAft>
                        <a:buNone/>
                      </a:pPr>
                      <a:r>
                        <a:rPr lang="en-US" sz="2400" kern="100" dirty="0">
                          <a:effectLst/>
                        </a:rPr>
                        <a:t>" 1 can Jam 10 1 can Corn 10 1 shoe polish 08 1 stove lifter 5 2 Bread Pans 1/3 1/2 22 </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80742250"/>
                  </a:ext>
                </a:extLst>
              </a:tr>
              <a:tr h="0">
                <a:tc>
                  <a:txBody>
                    <a:bodyPr/>
                    <a:lstStyle/>
                    <a:p>
                      <a:pPr marL="0" marR="0">
                        <a:lnSpc>
                          <a:spcPct val="107000"/>
                        </a:lnSpc>
                        <a:spcAft>
                          <a:spcPts val="800"/>
                        </a:spcAft>
                        <a:buNone/>
                      </a:pPr>
                      <a:r>
                        <a:rPr lang="en-US" sz="2400" kern="100" dirty="0">
                          <a:effectLst/>
                        </a:rPr>
                        <a:t>12</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marL="0" marR="0">
                        <a:lnSpc>
                          <a:spcPct val="107000"/>
                        </a:lnSpc>
                        <a:spcAft>
                          <a:spcPts val="800"/>
                        </a:spcAft>
                        <a:buNone/>
                      </a:pPr>
                      <a:r>
                        <a:rPr lang="en-US" sz="2400" kern="100" dirty="0">
                          <a:effectLst/>
                        </a:rPr>
                        <a:t>" 1 Pr Felt Boots 250 2 lb Butter 50 1/4 # tea 15 2 # Sugar 11 </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10503797"/>
                  </a:ext>
                </a:extLst>
              </a:tr>
              <a:tr h="0">
                <a:tc>
                  <a:txBody>
                    <a:bodyPr/>
                    <a:lstStyle/>
                    <a:p>
                      <a:pPr marL="0" marR="0">
                        <a:lnSpc>
                          <a:spcPct val="107000"/>
                        </a:lnSpc>
                        <a:spcAft>
                          <a:spcPts val="800"/>
                        </a:spcAft>
                        <a:buNone/>
                      </a:pPr>
                      <a:r>
                        <a:rPr lang="en-US" sz="2400" kern="100" dirty="0">
                          <a:effectLst/>
                        </a:rPr>
                        <a:t>" 1 1/ l o 10 1 b s 10 1 a ns 25 .. .</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marL="0" marR="0">
                        <a:lnSpc>
                          <a:spcPct val="107000"/>
                        </a:lnSpc>
                        <a:spcAft>
                          <a:spcPts val="800"/>
                        </a:spcAft>
                        <a:buNone/>
                      </a:pPr>
                      <a:r>
                        <a:rPr lang="en-US" sz="2400" kern="100" dirty="0">
                          <a:effectLst/>
                        </a:rPr>
                        <a:t>" 1 # Coffee 14 1/2 lb Tob 25 5–1 Cut Ham 85 Bal in ink 2 </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034878404"/>
                  </a:ext>
                </a:extLst>
              </a:tr>
              <a:tr h="0">
                <a:tc>
                  <a:txBody>
                    <a:bodyPr/>
                    <a:lstStyle/>
                    <a:p>
                      <a:pPr marL="0" marR="0">
                        <a:lnSpc>
                          <a:spcPct val="107000"/>
                        </a:lnSpc>
                        <a:spcAft>
                          <a:spcPts val="800"/>
                        </a:spcAft>
                        <a:buNone/>
                      </a:pPr>
                      <a:r>
                        <a:rPr lang="en-US" sz="2400" kern="100" dirty="0">
                          <a:effectLst/>
                        </a:rPr>
                        <a:t>" 2 5 o 0 1 Gl 15 1 20 a . C .</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marL="0" marR="0">
                        <a:lnSpc>
                          <a:spcPct val="107000"/>
                        </a:lnSpc>
                        <a:spcAft>
                          <a:spcPts val="800"/>
                        </a:spcAft>
                        <a:buNone/>
                      </a:pPr>
                      <a:r>
                        <a:rPr lang="en-US" sz="2400" kern="100" dirty="0">
                          <a:effectLst/>
                        </a:rPr>
                        <a:t>" 1 oz Camphor 05 1 Bx Pills 10 7–4 # Sugar 24 9–1 Gal oil 15 </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04774789"/>
                  </a:ext>
                </a:extLst>
              </a:tr>
              <a:tr h="0">
                <a:tc>
                  <a:txBody>
                    <a:bodyPr/>
                    <a:lstStyle/>
                    <a:p>
                      <a:pPr marL="0" marR="0">
                        <a:lnSpc>
                          <a:spcPct val="107000"/>
                        </a:lnSpc>
                        <a:spcAft>
                          <a:spcPts val="800"/>
                        </a:spcAft>
                        <a:buNone/>
                      </a:pPr>
                      <a:r>
                        <a:rPr lang="en-US" sz="2400" kern="100" dirty="0">
                          <a:effectLst/>
                        </a:rPr>
                        <a:t>" "4 o 50 10 1 o 15 2 s 5.</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marL="0" marR="0">
                        <a:lnSpc>
                          <a:spcPct val="107000"/>
                        </a:lnSpc>
                        <a:spcAft>
                          <a:spcPts val="800"/>
                        </a:spcAft>
                        <a:buNone/>
                      </a:pPr>
                      <a:r>
                        <a:rPr lang="en-US" sz="2400" kern="100" dirty="0">
                          <a:effectLst/>
                        </a:rPr>
                        <a:t>" 1 # B Sugar 5 1 # Coffee 14 11–1/2 Gal Hominy 10 2 # Lard 25 </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862759776"/>
                  </a:ext>
                </a:extLst>
              </a:tr>
            </a:tbl>
          </a:graphicData>
        </a:graphic>
      </p:graphicFrame>
    </p:spTree>
    <p:extLst>
      <p:ext uri="{BB962C8B-B14F-4D97-AF65-F5344CB8AC3E}">
        <p14:creationId xmlns:p14="http://schemas.microsoft.com/office/powerpoint/2010/main" val="11938915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4B7431-965A-5CF7-6592-E26F3FA239FF}"/>
              </a:ext>
            </a:extLst>
          </p:cNvPr>
          <p:cNvSpPr>
            <a:spLocks noGrp="1"/>
          </p:cNvSpPr>
          <p:nvPr>
            <p:ph type="title"/>
          </p:nvPr>
        </p:nvSpPr>
        <p:spPr/>
        <p:txBody>
          <a:bodyPr/>
          <a:lstStyle/>
          <a:p>
            <a:r>
              <a:rPr lang="en-US" b="1" dirty="0"/>
              <a:t>Gemini</a:t>
            </a:r>
          </a:p>
        </p:txBody>
      </p:sp>
      <p:sp>
        <p:nvSpPr>
          <p:cNvPr id="5" name="Content Placeholder 4">
            <a:extLst>
              <a:ext uri="{FF2B5EF4-FFF2-40B4-BE49-F238E27FC236}">
                <a16:creationId xmlns:a16="http://schemas.microsoft.com/office/drawing/2014/main" id="{4C22C8BF-D5DF-711C-2567-DF71300BF611}"/>
              </a:ext>
            </a:extLst>
          </p:cNvPr>
          <p:cNvSpPr>
            <a:spLocks noGrp="1"/>
          </p:cNvSpPr>
          <p:nvPr>
            <p:ph idx="1"/>
          </p:nvPr>
        </p:nvSpPr>
        <p:spPr/>
        <p:txBody>
          <a:bodyPr/>
          <a:lstStyle/>
          <a:p>
            <a:r>
              <a:rPr lang="en-US" dirty="0"/>
              <a:t>Upload individual image</a:t>
            </a:r>
          </a:p>
          <a:p>
            <a:r>
              <a:rPr lang="en-US" dirty="0"/>
              <a:t>PROMPT: Transcribe this handwritten page from a store ledger. The writing has numbers and words. Some of the words are abbreviations. The image is in tabular format. The customer name and the year are at the top. The columns from left to right are month, day, items sold to the customer, total cost of items, month, day, items bought from the customer or customer payment, total amount.</a:t>
            </a:r>
          </a:p>
        </p:txBody>
      </p:sp>
    </p:spTree>
    <p:extLst>
      <p:ext uri="{BB962C8B-B14F-4D97-AF65-F5344CB8AC3E}">
        <p14:creationId xmlns:p14="http://schemas.microsoft.com/office/powerpoint/2010/main" val="21335987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344D39-516A-1BEC-9272-D2F87D0A37C5}"/>
              </a:ext>
            </a:extLst>
          </p:cNvPr>
          <p:cNvSpPr>
            <a:spLocks noGrp="1"/>
          </p:cNvSpPr>
          <p:nvPr>
            <p:ph type="title"/>
          </p:nvPr>
        </p:nvSpPr>
        <p:spPr/>
        <p:txBody>
          <a:bodyPr/>
          <a:lstStyle/>
          <a:p>
            <a:r>
              <a:rPr lang="en-US" b="1" dirty="0"/>
              <a:t>Comparison of Gemini vs. manual transcription</a:t>
            </a:r>
            <a:endParaRPr lang="en-US" dirty="0"/>
          </a:p>
        </p:txBody>
      </p:sp>
      <p:graphicFrame>
        <p:nvGraphicFramePr>
          <p:cNvPr id="20" name="Content Placeholder 19">
            <a:extLst>
              <a:ext uri="{FF2B5EF4-FFF2-40B4-BE49-F238E27FC236}">
                <a16:creationId xmlns:a16="http://schemas.microsoft.com/office/drawing/2014/main" id="{0045834C-D155-42AA-3207-5EF549830482}"/>
              </a:ext>
            </a:extLst>
          </p:cNvPr>
          <p:cNvGraphicFramePr>
            <a:graphicFrameLocks noGrp="1"/>
          </p:cNvGraphicFramePr>
          <p:nvPr>
            <p:ph idx="1"/>
            <p:extLst>
              <p:ext uri="{D42A27DB-BD31-4B8C-83A1-F6EECF244321}">
                <p14:modId xmlns:p14="http://schemas.microsoft.com/office/powerpoint/2010/main" val="2123542072"/>
              </p:ext>
            </p:extLst>
          </p:nvPr>
        </p:nvGraphicFramePr>
        <p:xfrm>
          <a:off x="914400" y="1267619"/>
          <a:ext cx="10515600" cy="5471544"/>
        </p:xfrm>
        <a:graphic>
          <a:graphicData uri="http://schemas.openxmlformats.org/drawingml/2006/table">
            <a:tbl>
              <a:tblPr firstRow="1" firstCol="1" bandRow="1">
                <a:tableStyleId>{5C22544A-7EE6-4342-B048-85BDC9FD1C3A}</a:tableStyleId>
              </a:tblPr>
              <a:tblGrid>
                <a:gridCol w="5257800">
                  <a:extLst>
                    <a:ext uri="{9D8B030D-6E8A-4147-A177-3AD203B41FA5}">
                      <a16:colId xmlns:a16="http://schemas.microsoft.com/office/drawing/2014/main" val="10617037"/>
                    </a:ext>
                  </a:extLst>
                </a:gridCol>
                <a:gridCol w="5257800">
                  <a:extLst>
                    <a:ext uri="{9D8B030D-6E8A-4147-A177-3AD203B41FA5}">
                      <a16:colId xmlns:a16="http://schemas.microsoft.com/office/drawing/2014/main" val="2623771837"/>
                    </a:ext>
                  </a:extLst>
                </a:gridCol>
              </a:tblGrid>
              <a:tr h="0">
                <a:tc>
                  <a:txBody>
                    <a:bodyPr/>
                    <a:lstStyle/>
                    <a:p>
                      <a:pPr marL="0" marR="0">
                        <a:lnSpc>
                          <a:spcPct val="107000"/>
                        </a:lnSpc>
                        <a:spcAft>
                          <a:spcPts val="800"/>
                        </a:spcAft>
                        <a:buNone/>
                      </a:pPr>
                      <a:r>
                        <a:rPr lang="en-US" sz="2800" kern="100" dirty="0">
                          <a:effectLst/>
                        </a:rPr>
                        <a:t>Gemini</a:t>
                      </a:r>
                      <a:endParaRPr lang="en-US"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Aft>
                          <a:spcPts val="800"/>
                        </a:spcAft>
                        <a:buNone/>
                      </a:pPr>
                      <a:r>
                        <a:rPr lang="en-US" sz="2800" kern="100" dirty="0">
                          <a:effectLst/>
                        </a:rPr>
                        <a:t>Manual transcription</a:t>
                      </a:r>
                      <a:endParaRPr lang="en-US"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877539564"/>
                  </a:ext>
                </a:extLst>
              </a:tr>
              <a:tr h="0">
                <a:tc>
                  <a:txBody>
                    <a:bodyPr/>
                    <a:lstStyle/>
                    <a:p>
                      <a:pPr marL="0" marR="0">
                        <a:lnSpc>
                          <a:spcPct val="107000"/>
                        </a:lnSpc>
                        <a:spcAft>
                          <a:spcPts val="800"/>
                        </a:spcAft>
                        <a:buNone/>
                      </a:pPr>
                      <a:r>
                        <a:rPr lang="en-US" sz="2800" kern="100" dirty="0">
                          <a:effectLst/>
                        </a:rPr>
                        <a:t>To Balance brought forward Ledger C 401</a:t>
                      </a:r>
                      <a:endParaRPr lang="en-US"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Aft>
                          <a:spcPts val="800"/>
                        </a:spcAft>
                        <a:buNone/>
                      </a:pPr>
                      <a:r>
                        <a:rPr lang="en-US" sz="2800" kern="100" dirty="0">
                          <a:effectLst/>
                        </a:rPr>
                        <a:t>To balance brought forward Ledger 1 401</a:t>
                      </a:r>
                      <a:endParaRPr lang="en-US"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741054389"/>
                  </a:ext>
                </a:extLst>
              </a:tr>
              <a:tr h="0">
                <a:tc>
                  <a:txBody>
                    <a:bodyPr/>
                    <a:lstStyle/>
                    <a:p>
                      <a:pPr marL="0" marR="0">
                        <a:lnSpc>
                          <a:spcPct val="107000"/>
                        </a:lnSpc>
                        <a:spcAft>
                          <a:spcPts val="800"/>
                        </a:spcAft>
                        <a:buNone/>
                      </a:pPr>
                      <a:r>
                        <a:rPr lang="en-US" sz="2800" kern="100" dirty="0">
                          <a:effectLst/>
                        </a:rPr>
                        <a:t>1 yd ribbon 10 1 qt Hominy 12 1 Bot Medicine 15 1 Box tacks 03</a:t>
                      </a:r>
                      <a:endParaRPr lang="en-US"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Aft>
                          <a:spcPts val="800"/>
                        </a:spcAft>
                        <a:buNone/>
                      </a:pPr>
                      <a:r>
                        <a:rPr lang="en-US" sz="2800" kern="100" dirty="0">
                          <a:effectLst/>
                        </a:rPr>
                        <a:t>" 1 yd ribbon 15 1 Qt hominy 10 1 bot Ammonia 10 1 sk Tob 5 </a:t>
                      </a:r>
                      <a:endParaRPr lang="en-US"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538779839"/>
                  </a:ext>
                </a:extLst>
              </a:tr>
              <a:tr h="0">
                <a:tc>
                  <a:txBody>
                    <a:bodyPr/>
                    <a:lstStyle/>
                    <a:p>
                      <a:pPr marL="0" marR="0">
                        <a:lnSpc>
                          <a:spcPct val="107000"/>
                        </a:lnSpc>
                        <a:spcAft>
                          <a:spcPts val="800"/>
                        </a:spcAft>
                        <a:buNone/>
                      </a:pPr>
                      <a:r>
                        <a:rPr lang="en-US" sz="2800" kern="100" dirty="0">
                          <a:effectLst/>
                        </a:rPr>
                        <a:t>1 Can Corn 12 1 Can Corn 12 1 Bottle Polish 06 Shoe Lifts 25 2 Boxes Pins 10</a:t>
                      </a:r>
                      <a:endParaRPr lang="en-US"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Aft>
                          <a:spcPts val="800"/>
                        </a:spcAft>
                        <a:buNone/>
                      </a:pPr>
                      <a:r>
                        <a:rPr lang="en-US" sz="2800" kern="100" dirty="0">
                          <a:effectLst/>
                        </a:rPr>
                        <a:t>" 1 can Jam 10 1 can Corn 10 1 shoe polish 08 1 stove lifter 5 2 Bread Pans 1/3 1/2 22 </a:t>
                      </a:r>
                      <a:endParaRPr lang="en-US"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045750995"/>
                  </a:ext>
                </a:extLst>
              </a:tr>
              <a:tr h="0">
                <a:tc>
                  <a:txBody>
                    <a:bodyPr/>
                    <a:lstStyle/>
                    <a:p>
                      <a:pPr marL="0" marR="0">
                        <a:lnSpc>
                          <a:spcPct val="107000"/>
                        </a:lnSpc>
                        <a:spcAft>
                          <a:spcPts val="800"/>
                        </a:spcAft>
                        <a:buNone/>
                      </a:pPr>
                      <a:r>
                        <a:rPr lang="en-US" sz="2800" kern="100" dirty="0">
                          <a:effectLst/>
                        </a:rPr>
                        <a:t>1 Pr felt Boots 2.50 2 pr Socks 50 pr Leggins 25 2 pr Leggins 50</a:t>
                      </a:r>
                      <a:endParaRPr lang="en-US"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Aft>
                          <a:spcPts val="800"/>
                        </a:spcAft>
                        <a:buNone/>
                      </a:pPr>
                      <a:r>
                        <a:rPr lang="en-US" sz="2800" kern="100" dirty="0">
                          <a:effectLst/>
                        </a:rPr>
                        <a:t>" 1 Pr Felt Boots 250 2 lb Butter 50 1/4 # tea 15 2 # Sugar 11 </a:t>
                      </a:r>
                      <a:endParaRPr lang="en-US"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732929941"/>
                  </a:ext>
                </a:extLst>
              </a:tr>
              <a:tr h="0">
                <a:tc>
                  <a:txBody>
                    <a:bodyPr/>
                    <a:lstStyle/>
                    <a:p>
                      <a:pPr marL="0" marR="0">
                        <a:lnSpc>
                          <a:spcPct val="107000"/>
                        </a:lnSpc>
                        <a:spcAft>
                          <a:spcPts val="800"/>
                        </a:spcAft>
                        <a:buNone/>
                      </a:pPr>
                      <a:r>
                        <a:rPr lang="en-US" sz="2800" kern="100" dirty="0">
                          <a:effectLst/>
                        </a:rPr>
                        <a:t>1 # Coffee 14 1/2 lb Tob 25 5–14 Match Boxes Balmint 37</a:t>
                      </a:r>
                      <a:endParaRPr lang="en-US"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Aft>
                          <a:spcPts val="800"/>
                        </a:spcAft>
                        <a:buNone/>
                      </a:pPr>
                      <a:r>
                        <a:rPr lang="en-US" sz="2800" kern="100" dirty="0">
                          <a:effectLst/>
                        </a:rPr>
                        <a:t>" 1 # Coffee 14 1/2 lb Tob 25 5–1 Cut Ham 85 Bal in ink 2 </a:t>
                      </a:r>
                      <a:endParaRPr lang="en-US"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901033557"/>
                  </a:ext>
                </a:extLst>
              </a:tr>
            </a:tbl>
          </a:graphicData>
        </a:graphic>
      </p:graphicFrame>
    </p:spTree>
    <p:extLst>
      <p:ext uri="{BB962C8B-B14F-4D97-AF65-F5344CB8AC3E}">
        <p14:creationId xmlns:p14="http://schemas.microsoft.com/office/powerpoint/2010/main" val="32714587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115DA-5D67-BB32-DDE8-2432FAA28632}"/>
              </a:ext>
            </a:extLst>
          </p:cNvPr>
          <p:cNvSpPr>
            <a:spLocks noGrp="1"/>
          </p:cNvSpPr>
          <p:nvPr>
            <p:ph type="title"/>
          </p:nvPr>
        </p:nvSpPr>
        <p:spPr/>
        <p:txBody>
          <a:bodyPr/>
          <a:lstStyle/>
          <a:p>
            <a:r>
              <a:rPr lang="en-US" b="1" dirty="0"/>
              <a:t>Conclusions</a:t>
            </a:r>
          </a:p>
        </p:txBody>
      </p:sp>
      <p:sp>
        <p:nvSpPr>
          <p:cNvPr id="3" name="Content Placeholder 2">
            <a:extLst>
              <a:ext uri="{FF2B5EF4-FFF2-40B4-BE49-F238E27FC236}">
                <a16:creationId xmlns:a16="http://schemas.microsoft.com/office/drawing/2014/main" id="{45C3CE72-65FF-C55D-5F29-C192B2444B60}"/>
              </a:ext>
            </a:extLst>
          </p:cNvPr>
          <p:cNvSpPr>
            <a:spLocks noGrp="1"/>
          </p:cNvSpPr>
          <p:nvPr>
            <p:ph idx="1"/>
          </p:nvPr>
        </p:nvSpPr>
        <p:spPr/>
        <p:txBody>
          <a:bodyPr>
            <a:normAutofit lnSpcReduction="10000"/>
          </a:bodyPr>
          <a:lstStyle/>
          <a:p>
            <a:r>
              <a:rPr lang="en-US" b="1" dirty="0"/>
              <a:t>PyLaia</a:t>
            </a:r>
            <a:r>
              <a:rPr lang="en-US" dirty="0"/>
              <a:t> </a:t>
            </a:r>
            <a:r>
              <a:rPr lang="en-US" b="1" dirty="0"/>
              <a:t>by itself</a:t>
            </a:r>
          </a:p>
          <a:p>
            <a:pPr lvl="1"/>
            <a:r>
              <a:rPr lang="en-US" dirty="0"/>
              <a:t>Infeasible because it requires one image per line. </a:t>
            </a:r>
          </a:p>
          <a:p>
            <a:pPr lvl="1"/>
            <a:r>
              <a:rPr lang="en-US" dirty="0"/>
              <a:t>The Boyds store ledger images are one image per page.</a:t>
            </a:r>
          </a:p>
          <a:p>
            <a:r>
              <a:rPr lang="en-US" b="1" dirty="0"/>
              <a:t>Transkribus</a:t>
            </a:r>
            <a:r>
              <a:rPr lang="en-US" dirty="0"/>
              <a:t> </a:t>
            </a:r>
          </a:p>
          <a:p>
            <a:pPr lvl="1"/>
            <a:r>
              <a:rPr lang="en-US" dirty="0"/>
              <a:t>Model training might work better with more training images. The documentation advises 25-50.</a:t>
            </a:r>
          </a:p>
          <a:p>
            <a:pPr lvl="1"/>
            <a:r>
              <a:rPr lang="en-US" dirty="0"/>
              <a:t>The user has to learn how to use Transkribus via documentation, training videos, and trial and error.</a:t>
            </a:r>
          </a:p>
          <a:p>
            <a:pPr lvl="1"/>
            <a:r>
              <a:rPr lang="en-US" dirty="0"/>
              <a:t>Cost limitations: approximately 1 credit per page transcription. However, running the training models does not cost.</a:t>
            </a:r>
          </a:p>
          <a:p>
            <a:pPr lvl="1"/>
            <a:r>
              <a:rPr lang="en-US" dirty="0"/>
              <a:t>Data difficulty: the Boyds store ledger images are </a:t>
            </a:r>
            <a:r>
              <a:rPr lang="en-US" u="sng" dirty="0"/>
              <a:t>kind of</a:t>
            </a:r>
            <a:r>
              <a:rPr lang="en-US" dirty="0"/>
              <a:t> tabular. Not purely linear, but also not regularly either area format (e.g., a form) or table format.</a:t>
            </a:r>
          </a:p>
          <a:p>
            <a:pPr lvl="1"/>
            <a:endParaRPr lang="en-US" dirty="0"/>
          </a:p>
        </p:txBody>
      </p:sp>
    </p:spTree>
    <p:extLst>
      <p:ext uri="{BB962C8B-B14F-4D97-AF65-F5344CB8AC3E}">
        <p14:creationId xmlns:p14="http://schemas.microsoft.com/office/powerpoint/2010/main" val="17139676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9D5877-6386-E832-A71D-636528071AFF}"/>
              </a:ext>
            </a:extLst>
          </p:cNvPr>
          <p:cNvSpPr>
            <a:spLocks noGrp="1"/>
          </p:cNvSpPr>
          <p:nvPr>
            <p:ph type="title"/>
          </p:nvPr>
        </p:nvSpPr>
        <p:spPr/>
        <p:txBody>
          <a:bodyPr/>
          <a:lstStyle/>
          <a:p>
            <a:r>
              <a:rPr lang="en-US" b="1" dirty="0"/>
              <a:t>Conclusions</a:t>
            </a:r>
          </a:p>
        </p:txBody>
      </p:sp>
      <p:sp>
        <p:nvSpPr>
          <p:cNvPr id="3" name="Content Placeholder 2">
            <a:extLst>
              <a:ext uri="{FF2B5EF4-FFF2-40B4-BE49-F238E27FC236}">
                <a16:creationId xmlns:a16="http://schemas.microsoft.com/office/drawing/2014/main" id="{34B9C770-77D5-F94A-0932-5B7FC4F5F756}"/>
              </a:ext>
            </a:extLst>
          </p:cNvPr>
          <p:cNvSpPr>
            <a:spLocks noGrp="1"/>
          </p:cNvSpPr>
          <p:nvPr>
            <p:ph idx="1"/>
          </p:nvPr>
        </p:nvSpPr>
        <p:spPr/>
        <p:txBody>
          <a:bodyPr>
            <a:normAutofit lnSpcReduction="10000"/>
          </a:bodyPr>
          <a:lstStyle/>
          <a:p>
            <a:r>
              <a:rPr lang="en-US" b="1" dirty="0"/>
              <a:t>Gemini</a:t>
            </a:r>
          </a:p>
          <a:p>
            <a:pPr lvl="1"/>
            <a:r>
              <a:rPr lang="en-US" dirty="0"/>
              <a:t>API needed.</a:t>
            </a:r>
          </a:p>
          <a:p>
            <a:pPr lvl="1"/>
            <a:r>
              <a:rPr lang="en-US" dirty="0"/>
              <a:t>Data ownership – the free limited API uses the data to train the LLM.</a:t>
            </a:r>
          </a:p>
          <a:p>
            <a:pPr lvl="1"/>
            <a:r>
              <a:rPr lang="en-US" dirty="0"/>
              <a:t>Cost – the unlimited API, which does not use the data to train the LLM, costs [something].</a:t>
            </a:r>
          </a:p>
          <a:p>
            <a:pPr lvl="1"/>
            <a:r>
              <a:rPr lang="en-US" dirty="0"/>
              <a:t>Transcription results are plausible but often incorrect.</a:t>
            </a:r>
          </a:p>
          <a:p>
            <a:r>
              <a:rPr lang="en-US" b="1" dirty="0"/>
              <a:t>Manual</a:t>
            </a:r>
          </a:p>
          <a:p>
            <a:pPr lvl="1"/>
            <a:r>
              <a:rPr lang="en-US" dirty="0"/>
              <a:t>Manual transcription by a knowledgeable transcriber is the most accurate method.</a:t>
            </a:r>
          </a:p>
          <a:p>
            <a:pPr lvl="1"/>
            <a:r>
              <a:rPr lang="en-US" dirty="0"/>
              <a:t>Manual editing will be needed regardless of the transcription method used.</a:t>
            </a:r>
          </a:p>
          <a:p>
            <a:pPr lvl="1"/>
            <a:r>
              <a:rPr lang="en-US" dirty="0"/>
              <a:t>Crowd-sourcing does not necessarily scale up, but may be the most feasible option for one document for the Boyds Historical Society.</a:t>
            </a:r>
          </a:p>
        </p:txBody>
      </p:sp>
    </p:spTree>
    <p:extLst>
      <p:ext uri="{BB962C8B-B14F-4D97-AF65-F5344CB8AC3E}">
        <p14:creationId xmlns:p14="http://schemas.microsoft.com/office/powerpoint/2010/main" val="174849024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137</TotalTime>
  <Words>1120</Words>
  <Application>Microsoft Office PowerPoint</Application>
  <PresentationFormat>Widescreen</PresentationFormat>
  <Paragraphs>103</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Calibri Light</vt:lpstr>
      <vt:lpstr>Office Theme</vt:lpstr>
      <vt:lpstr>METHODS FOR TRANSCRIBING HANDWRITING IN IMAGES FOR HISTORICAL RESEARCH</vt:lpstr>
      <vt:lpstr>Origin of project</vt:lpstr>
      <vt:lpstr>Sample pages in the Boyds store ledger</vt:lpstr>
      <vt:lpstr>Research question: what is the most feasible option for transcribing the Boyds store ledger?</vt:lpstr>
      <vt:lpstr>Manual transcription</vt:lpstr>
      <vt:lpstr>PyLaia Python library</vt:lpstr>
      <vt:lpstr>Text line images used to test PyLaia</vt:lpstr>
      <vt:lpstr>Results using PyLaia</vt:lpstr>
      <vt:lpstr>Transkribus</vt:lpstr>
      <vt:lpstr>Example of Transkribus page interface</vt:lpstr>
      <vt:lpstr>Transkribus text model training on ledger</vt:lpstr>
      <vt:lpstr>Approximate comparison of trained Transkribus model vs. manual transcription</vt:lpstr>
      <vt:lpstr>Gemini</vt:lpstr>
      <vt:lpstr>Comparison of Gemini vs. manual transcription</vt:lpstr>
      <vt:lpstr>Conclusions</vt:lpstr>
      <vt:lpstr>Conclusions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Author</dc:creator>
  <cp:lastModifiedBy>Author</cp:lastModifiedBy>
  <cp:revision>30</cp:revision>
  <dcterms:created xsi:type="dcterms:W3CDTF">2026-07-26T18:32:46Z</dcterms:created>
  <dcterms:modified xsi:type="dcterms:W3CDTF">2026-07-26T20:50:24Z</dcterms:modified>
</cp:coreProperties>
</file>